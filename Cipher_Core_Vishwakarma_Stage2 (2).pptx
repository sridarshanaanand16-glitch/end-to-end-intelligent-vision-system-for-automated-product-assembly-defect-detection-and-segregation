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6" r:id="rId12"/>
    <p:sldId id="287" r:id="rId13"/>
    <p:sldId id="288" r:id="rId14"/>
    <p:sldId id="289" r:id="rId15"/>
    <p:sldId id="290" r:id="rId16"/>
    <p:sldId id="291" r:id="rId17"/>
    <p:sldId id="292" r:id="rId18"/>
  </p:sldIdLst>
  <p:sldSz cx="12192000" cy="6858000"/>
  <p:notesSz cx="6858000" cy="9144000"/>
  <p:embeddedFontLst>
    <p:embeddedFont>
      <p:font typeface="DM Sans" pitchFamily="2" charset="0"/>
      <p:regular r:id="rId20"/>
      <p:bold r:id="rId21"/>
    </p:embeddedFont>
    <p:embeddedFont>
      <p:font typeface="Poppins" panose="00000500000000000000" pitchFamily="2" charset="0"/>
      <p:regular r:id="rId22"/>
      <p:bold r:id="rId23"/>
    </p:embeddedFont>
    <p:embeddedFont>
      <p:font typeface="Poppins SemiBold" panose="00000700000000000000" pitchFamily="2" charset="0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794A4B-642C-4044-8C10-0E9A9301483A}">
  <a:tblStyle styleId="{37794A4B-642C-4044-8C10-0E9A930148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3686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Introduce Team Cipher Core from Sri Ramakrishna Engineering College and the project in one sentence: a low-cost PLC + Raspberry Pi vision cell that assembles, inspects and sorts tap-cap assemblies.</a:t>
            </a:r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1905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one-line innovation: affordable, open-source industrial automation for MSMEs. Point to the four numbers: five stations, four cylinders, 24 V PLC control, four automated vision checks.</a:t>
            </a:r>
          </a:p>
        </p:txBody>
      </p:sp>
    </p:spTree>
    <p:extLst>
      <p:ext uri="{BB962C8B-B14F-4D97-AF65-F5344CB8AC3E}">
        <p14:creationId xmlns:p14="http://schemas.microsoft.com/office/powerpoint/2010/main" val="2639705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two parts being assembled (clear base cap + white LEO-labelled top). The problem is manual pressing and eyeball inspection, and the fact that industrial vision systems are out of reach for small units.</a:t>
            </a:r>
          </a:p>
        </p:txBody>
      </p:sp>
    </p:spTree>
    <p:extLst>
      <p:ext uri="{BB962C8B-B14F-4D97-AF65-F5344CB8AC3E}">
        <p14:creationId xmlns:p14="http://schemas.microsoft.com/office/powerpoint/2010/main" val="38907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row by row: each manual step on the left is replaced by an automated step on the right. The cell removes hand pressing, eyeball inspection and manual sorting.</a:t>
            </a:r>
          </a:p>
        </p:txBody>
      </p:sp>
    </p:spTree>
    <p:extLst>
      <p:ext uri="{BB962C8B-B14F-4D97-AF65-F5344CB8AC3E}">
        <p14:creationId xmlns:p14="http://schemas.microsoft.com/office/powerpoint/2010/main" val="510798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clear that these are the measurable improvements. Baselines and results will be logged during integrated cell testing in Month 4.</a:t>
            </a:r>
          </a:p>
        </p:txBody>
      </p:sp>
    </p:spTree>
    <p:extLst>
      <p:ext uri="{BB962C8B-B14F-4D97-AF65-F5344CB8AC3E}">
        <p14:creationId xmlns:p14="http://schemas.microsoft.com/office/powerpoint/2010/main" val="4258244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 row is the physical process. The four cards are the subsystems. The bottom chain shows how a vision decision becomes a pneumatic action.</a:t>
            </a:r>
          </a:p>
        </p:txBody>
      </p:sp>
    </p:spTree>
    <p:extLst>
      <p:ext uri="{BB962C8B-B14F-4D97-AF65-F5344CB8AC3E}">
        <p14:creationId xmlns:p14="http://schemas.microsoft.com/office/powerpoint/2010/main" val="538001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row ties a target to the exact hardware chosen. Stress that all parts are standard, off-the-shelf industrial items.</a:t>
            </a:r>
          </a:p>
        </p:txBody>
      </p:sp>
    </p:spTree>
    <p:extLst>
      <p:ext uri="{BB962C8B-B14F-4D97-AF65-F5344CB8AC3E}">
        <p14:creationId xmlns:p14="http://schemas.microsoft.com/office/powerpoint/2010/main" val="2411314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isometric model first, then the camera-arch view and the top view. Call out the feeders, C-bend, vision arch and reject bin.</a:t>
            </a:r>
          </a:p>
        </p:txBody>
      </p:sp>
    </p:spTree>
    <p:extLst>
      <p:ext uri="{BB962C8B-B14F-4D97-AF65-F5344CB8AC3E}">
        <p14:creationId xmlns:p14="http://schemas.microsoft.com/office/powerpoint/2010/main" val="935986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A3 drawing gives the orthographic and isometric views. Right-hand panel explains material and mounting choices.</a:t>
            </a:r>
          </a:p>
        </p:txBody>
      </p:sp>
    </p:spTree>
    <p:extLst>
      <p:ext uri="{BB962C8B-B14F-4D97-AF65-F5344CB8AC3E}">
        <p14:creationId xmlns:p14="http://schemas.microsoft.com/office/powerpoint/2010/main" val="3879862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digital twin: four cylinders with 5/2 valves, PLC inputs and outputs. The logic was validated virtually before building hardware.</a:t>
            </a:r>
          </a:p>
        </p:txBody>
      </p:sp>
    </p:spTree>
    <p:extLst>
      <p:ext uri="{BB962C8B-B14F-4D97-AF65-F5344CB8AC3E}">
        <p14:creationId xmlns:p14="http://schemas.microsoft.com/office/powerpoint/2010/main" val="2277098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a standard industrial part. Quantities come from the Automation Studio model and the mechanical design.</a:t>
            </a:r>
          </a:p>
        </p:txBody>
      </p:sp>
    </p:spTree>
    <p:extLst>
      <p:ext uri="{BB962C8B-B14F-4D97-AF65-F5344CB8AC3E}">
        <p14:creationId xmlns:p14="http://schemas.microsoft.com/office/powerpoint/2010/main" val="2644615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Summarise what changed between stages: complete CAD, the digital twin, PLC logic and a defined vision approach. Mention the team and the repository link.</a:t>
            </a:r>
          </a:p>
        </p:txBody>
      </p:sp>
    </p:spTree>
    <p:extLst>
      <p:ext uri="{BB962C8B-B14F-4D97-AF65-F5344CB8AC3E}">
        <p14:creationId xmlns:p14="http://schemas.microsoft.com/office/powerpoint/2010/main" val="3906605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hardwired NC fail-safe: any fault drops the output coils and de-energises the press. The FMEA covers the five most likely failures.</a:t>
            </a:r>
          </a:p>
        </p:txBody>
      </p:sp>
    </p:spTree>
    <p:extLst>
      <p:ext uri="{BB962C8B-B14F-4D97-AF65-F5344CB8AC3E}">
        <p14:creationId xmlns:p14="http://schemas.microsoft.com/office/powerpoint/2010/main" val="1266565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Design work is already done. The four months cover vision, mechanical build, pneumatics and PLC, then integrated testing leading to the Stage 3 demo.</a:t>
            </a:r>
          </a:p>
        </p:txBody>
      </p:sp>
    </p:spTree>
    <p:extLst>
      <p:ext uri="{BB962C8B-B14F-4D97-AF65-F5344CB8AC3E}">
        <p14:creationId xmlns:p14="http://schemas.microsoft.com/office/powerpoint/2010/main" val="2576773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four anticipated bottlenecks from the design stage; the next slide gives the matching mitigations.</a:t>
            </a:r>
          </a:p>
        </p:txBody>
      </p:sp>
    </p:spTree>
    <p:extLst>
      <p:ext uri="{BB962C8B-B14F-4D97-AF65-F5344CB8AC3E}">
        <p14:creationId xmlns:p14="http://schemas.microsoft.com/office/powerpoint/2010/main" val="2326554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risk has a primary fix and a backup. The modular design means any subsystem can be swapped without redesigning the cell.</a:t>
            </a:r>
          </a:p>
        </p:txBody>
      </p:sp>
    </p:spTree>
    <p:extLst>
      <p:ext uri="{BB962C8B-B14F-4D97-AF65-F5344CB8AC3E}">
        <p14:creationId xmlns:p14="http://schemas.microsoft.com/office/powerpoint/2010/main" val="2342169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Tools, documentation and standards used. All images are the team’s own work.</a:t>
            </a:r>
          </a:p>
        </p:txBody>
      </p:sp>
    </p:spTree>
    <p:extLst>
      <p:ext uri="{BB962C8B-B14F-4D97-AF65-F5344CB8AC3E}">
        <p14:creationId xmlns:p14="http://schemas.microsoft.com/office/powerpoint/2010/main" val="1477657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14400" y="2964658"/>
            <a:ext cx="1036015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lang="en-IN" sz="3200" b="1" dirty="0">
                <a:latin typeface="Poppins" panose="00000500000000000000" pitchFamily="2" charset="0"/>
                <a:cs typeface="Poppins" panose="00000500000000000000" pitchFamily="2" charset="0"/>
              </a:rPr>
              <a:t>End-to-End Intelligent Vision System for Automated Product Assembly, Defect Detection, and Segregation</a:t>
            </a: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8669" y="2150738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embers">
            <a:extLst>
              <a:ext uri="{FF2B5EF4-FFF2-40B4-BE49-F238E27FC236}">
                <a16:creationId xmlns:a16="http://schemas.microsoft.com/office/drawing/2014/main" id="{9559CEF4-7552-7AE7-CE28-0342D98591C4}"/>
              </a:ext>
            </a:extLst>
          </p:cNvPr>
          <p:cNvSpPr txBox="1"/>
          <p:nvPr/>
        </p:nvSpPr>
        <p:spPr>
          <a:xfrm>
            <a:off x="703135" y="4652271"/>
            <a:ext cx="10360152" cy="258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 dirty="0">
                <a:solidFill>
                  <a:srgbClr val="334155"/>
                </a:solidFill>
                <a:latin typeface="DM Sans"/>
              </a:rPr>
              <a:t>Sridarshan A   ·   Adhavan M   ·   </a:t>
            </a:r>
            <a:r>
              <a:rPr lang="en-US" sz="1600" dirty="0" err="1">
                <a:solidFill>
                  <a:srgbClr val="334155"/>
                </a:solidFill>
                <a:latin typeface="DM Sans"/>
              </a:rPr>
              <a:t>Sivapiriyan</a:t>
            </a:r>
            <a:r>
              <a:rPr lang="en-US" sz="1600" dirty="0">
                <a:solidFill>
                  <a:srgbClr val="334155"/>
                </a:solidFill>
                <a:latin typeface="DM Sans"/>
              </a:rPr>
              <a:t> A R </a:t>
            </a:r>
            <a:r>
              <a:rPr sz="1600" b="0" i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n-IN" sz="1600" dirty="0">
                <a:solidFill>
                  <a:srgbClr val="334155"/>
                </a:solidFill>
                <a:latin typeface="DM Sans"/>
              </a:rPr>
              <a:t>·  Hariharasudhan D</a:t>
            </a:r>
            <a:endParaRPr sz="1600" b="0" i="0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5" name="Application ID line">
            <a:extLst>
              <a:ext uri="{FF2B5EF4-FFF2-40B4-BE49-F238E27FC236}">
                <a16:creationId xmlns:a16="http://schemas.microsoft.com/office/drawing/2014/main" id="{82A3B5B8-524F-323D-58E9-9E0B2BF94CFD}"/>
              </a:ext>
            </a:extLst>
          </p:cNvPr>
          <p:cNvSpPr txBox="1"/>
          <p:nvPr/>
        </p:nvSpPr>
        <p:spPr>
          <a:xfrm>
            <a:off x="914400" y="5120640"/>
            <a:ext cx="10360152" cy="290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dirty="0">
                <a:solidFill>
                  <a:srgbClr val="0369A1"/>
                </a:solidFill>
                <a:latin typeface="DM Sans"/>
              </a:rPr>
              <a:t>Vishwakarma Application ID: </a:t>
            </a:r>
            <a:r>
              <a:rPr lang="en-US" sz="1800" b="1" i="0" dirty="0">
                <a:solidFill>
                  <a:srgbClr val="0369A1"/>
                </a:solidFill>
                <a:latin typeface="DM Sans"/>
              </a:rPr>
              <a:t>VK26</a:t>
            </a:r>
            <a:r>
              <a:rPr lang="en-US" sz="1800" b="1" dirty="0">
                <a:solidFill>
                  <a:srgbClr val="0369A1"/>
                </a:solidFill>
                <a:latin typeface="DM Sans"/>
              </a:rPr>
              <a:t>-IITI-AHM-0093</a:t>
            </a:r>
            <a:endParaRPr sz="1800" b="1" i="0" dirty="0">
              <a:solidFill>
                <a:srgbClr val="0369A1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82296" y="623620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452284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Project Overview</a:t>
            </a:r>
          </a:p>
        </p:txBody>
      </p:sp>
      <p:sp>
        <p:nvSpPr>
          <p:cNvPr id="6" name="Team tag"/>
          <p:cNvSpPr/>
          <p:nvPr/>
        </p:nvSpPr>
        <p:spPr>
          <a:xfrm>
            <a:off x="9692640" y="47548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wrap="square" lIns="36576" tIns="27432" rIns="36576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369A1"/>
                </a:solidFill>
                <a:latin typeface="DM Sans"/>
              </a:rPr>
              <a:t>TEAM CIPHER CORE  |  SREC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2 / 18</a:t>
            </a:r>
          </a:p>
        </p:txBody>
      </p:sp>
      <p:sp>
        <p:nvSpPr>
          <p:cNvPr id="8" name="Stat card 1"/>
          <p:cNvSpPr/>
          <p:nvPr/>
        </p:nvSpPr>
        <p:spPr>
          <a:xfrm>
            <a:off x="530352" y="10972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161288"/>
            <a:ext cx="2670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0369A1"/>
                </a:solidFill>
                <a:latin typeface="Poppins SemiBold"/>
              </a:rPr>
              <a:t>5 Stations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DM Sans"/>
              </a:rPr>
              <a:t>INLINE PROCESS STAGES</a:t>
            </a:r>
          </a:p>
        </p:txBody>
      </p:sp>
      <p:sp>
        <p:nvSpPr>
          <p:cNvPr id="11" name="Stat card 2"/>
          <p:cNvSpPr/>
          <p:nvPr/>
        </p:nvSpPr>
        <p:spPr>
          <a:xfrm>
            <a:off x="3349447" y="10972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49447" y="1161288"/>
            <a:ext cx="2670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0369A1"/>
                </a:solidFill>
                <a:latin typeface="Poppins SemiBold"/>
              </a:rPr>
              <a:t>4 Cylinders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447" y="1572768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DM Sans"/>
              </a:rPr>
              <a:t>PNEUMATIC ACTUATORS</a:t>
            </a:r>
          </a:p>
        </p:txBody>
      </p:sp>
      <p:sp>
        <p:nvSpPr>
          <p:cNvPr id="14" name="Stat card 3"/>
          <p:cNvSpPr/>
          <p:nvPr/>
        </p:nvSpPr>
        <p:spPr>
          <a:xfrm>
            <a:off x="6168542" y="10972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8542" y="1161288"/>
            <a:ext cx="2670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0369A1"/>
                </a:solidFill>
                <a:latin typeface="Poppins SemiBold"/>
              </a:rPr>
              <a:t>24 V 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8542" y="1572768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DM Sans"/>
              </a:rPr>
              <a:t>PLC-CONTROLLED CELL</a:t>
            </a:r>
          </a:p>
        </p:txBody>
      </p:sp>
      <p:sp>
        <p:nvSpPr>
          <p:cNvPr id="17" name="Stat card 4"/>
          <p:cNvSpPr/>
          <p:nvPr/>
        </p:nvSpPr>
        <p:spPr>
          <a:xfrm>
            <a:off x="8987637" y="10972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87637" y="1161288"/>
            <a:ext cx="2670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 dirty="0">
                <a:solidFill>
                  <a:srgbClr val="0369A1"/>
                </a:solidFill>
                <a:latin typeface="Poppins SemiBold"/>
              </a:rPr>
              <a:t>4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7637" y="1572768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DM Sans"/>
              </a:rPr>
              <a:t>AUTOMATED VISION TESTS</a:t>
            </a:r>
          </a:p>
        </p:txBody>
      </p:sp>
      <p:sp>
        <p:nvSpPr>
          <p:cNvPr id="20" name="Image card"/>
          <p:cNvSpPr/>
          <p:nvPr/>
        </p:nvSpPr>
        <p:spPr>
          <a:xfrm>
            <a:off x="530352" y="2103120"/>
            <a:ext cx="5431536" cy="3886200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CAD render of the cell" descr="cad_camer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649" y="2212848"/>
            <a:ext cx="4840941" cy="3429000"/>
          </a:xfrm>
          <a:prstGeom prst="rect">
            <a:avLst/>
          </a:prstGeom>
        </p:spPr>
      </p:pic>
      <p:sp>
        <p:nvSpPr>
          <p:cNvPr id="22" name="Caption"/>
          <p:cNvSpPr txBox="1"/>
          <p:nvPr/>
        </p:nvSpPr>
        <p:spPr>
          <a:xfrm>
            <a:off x="658368" y="5669280"/>
            <a:ext cx="5175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DM Sans"/>
              </a:rPr>
              <a:t>Figure: 3D CAD view of the Cipher Core cell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2103120"/>
            <a:ext cx="5431536" cy="3886200"/>
          </a:xfrm>
          <a:prstGeom prst="roundRect">
            <a:avLst>
              <a:gd name="adj" fmla="val 235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roject Overview header"/>
          <p:cNvSpPr txBox="1"/>
          <p:nvPr/>
        </p:nvSpPr>
        <p:spPr>
          <a:xfrm>
            <a:off x="6455664" y="2267712"/>
            <a:ext cx="497433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DM Sans"/>
              </a:rPr>
              <a:t>Project Overview</a:t>
            </a:r>
          </a:p>
        </p:txBody>
      </p:sp>
      <p:sp>
        <p:nvSpPr>
          <p:cNvPr id="25" name="Project Overview body"/>
          <p:cNvSpPr txBox="1"/>
          <p:nvPr/>
        </p:nvSpPr>
        <p:spPr>
          <a:xfrm>
            <a:off x="6455664" y="2670048"/>
            <a:ext cx="4974336" cy="25353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350" b="1" i="0" dirty="0">
                <a:solidFill>
                  <a:srgbClr val="0F172A"/>
                </a:solidFill>
                <a:latin typeface="DM Sans"/>
              </a:rPr>
              <a:t>Title</a:t>
            </a:r>
            <a:r>
              <a:rPr sz="1200" i="0" dirty="0">
                <a:solidFill>
                  <a:srgbClr val="0F172A"/>
                </a:solidFill>
                <a:latin typeface="DM Sans" pitchFamily="2" charset="0"/>
              </a:rPr>
              <a:t>: </a:t>
            </a:r>
            <a:r>
              <a:rPr lang="en-IN" sz="1200" dirty="0">
                <a:latin typeface="DM Sans" pitchFamily="2" charset="0"/>
                <a:cs typeface="Poppins" panose="00000500000000000000" pitchFamily="2" charset="0"/>
              </a:rPr>
              <a:t>End-to-End Intelligent Vision System for Automated     Product Assembly, Defect Detection, and Segregation</a:t>
            </a:r>
          </a:p>
          <a:p>
            <a:pPr marL="182880" indent="-182880" algn="just">
              <a:lnSpc>
                <a:spcPct val="108000"/>
              </a:lnSpc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 dirty="0">
                <a:solidFill>
                  <a:srgbClr val="0F172A"/>
                </a:solidFill>
                <a:latin typeface="DM Sans"/>
              </a:rPr>
              <a:t>Team: </a:t>
            </a:r>
            <a:r>
              <a:rPr sz="1350" b="0" i="0" dirty="0">
                <a:solidFill>
                  <a:srgbClr val="334155"/>
                </a:solidFill>
                <a:latin typeface="DM Sans"/>
              </a:rPr>
              <a:t>Sridarshan A, Adhavan M, </a:t>
            </a:r>
            <a:r>
              <a:rPr lang="en-US" sz="1350" dirty="0" err="1">
                <a:solidFill>
                  <a:srgbClr val="334155"/>
                </a:solidFill>
                <a:latin typeface="DM Sans"/>
              </a:rPr>
              <a:t>Sivapiriyan</a:t>
            </a:r>
            <a:r>
              <a:rPr lang="en-US" sz="1350" dirty="0">
                <a:solidFill>
                  <a:srgbClr val="334155"/>
                </a:solidFill>
                <a:latin typeface="DM Sans"/>
              </a:rPr>
              <a:t> A R, Hariharasudhan, D</a:t>
            </a:r>
            <a:endParaRPr sz="1350" b="0" i="0" dirty="0">
              <a:solidFill>
                <a:srgbClr val="334155"/>
              </a:solidFill>
              <a:latin typeface="DM Sans"/>
            </a:endParaRP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 dirty="0">
                <a:solidFill>
                  <a:srgbClr val="0F172A"/>
                </a:solidFill>
                <a:latin typeface="DM Sans"/>
              </a:rPr>
              <a:t>Institute: </a:t>
            </a:r>
            <a:r>
              <a:rPr sz="1350" b="0" i="0" dirty="0">
                <a:solidFill>
                  <a:srgbClr val="334155"/>
                </a:solidFill>
                <a:latin typeface="DM Sans"/>
              </a:rPr>
              <a:t>Sri Ramakrishna Engineering College</a:t>
            </a:r>
          </a:p>
          <a:p>
            <a:pPr marL="182880" indent="-182880" algn="just">
              <a:lnSpc>
                <a:spcPct val="108000"/>
              </a:lnSpc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 dirty="0">
                <a:solidFill>
                  <a:srgbClr val="0F172A"/>
                </a:solidFill>
                <a:latin typeface="DM Sans"/>
              </a:rPr>
              <a:t>Team ID:</a:t>
            </a:r>
            <a:r>
              <a:rPr lang="en-US" b="1" dirty="0">
                <a:solidFill>
                  <a:srgbClr val="0369A1"/>
                </a:solidFill>
                <a:latin typeface="DM Sans"/>
              </a:rPr>
              <a:t> </a:t>
            </a:r>
            <a:r>
              <a:rPr lang="en-US" dirty="0">
                <a:solidFill>
                  <a:schemeClr val="tx1"/>
                </a:solidFill>
                <a:latin typeface="DM Sans"/>
              </a:rPr>
              <a:t>VK26-IITI-AHM-0093</a:t>
            </a:r>
            <a:r>
              <a:rPr lang="en-US" b="1" dirty="0">
                <a:solidFill>
                  <a:srgbClr val="0369A1"/>
                </a:solidFill>
                <a:latin typeface="DM Sans"/>
              </a:rPr>
              <a:t> </a:t>
            </a:r>
            <a:r>
              <a:rPr sz="1350" b="0" i="0" dirty="0">
                <a:solidFill>
                  <a:srgbClr val="334155"/>
                </a:solidFill>
                <a:latin typeface="DM Sans"/>
              </a:rPr>
              <a:t>Track: Industrial Automation &amp; Machine Vision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 dirty="0">
                <a:solidFill>
                  <a:srgbClr val="0F172A"/>
                </a:solidFill>
                <a:latin typeface="DM Sans"/>
              </a:rPr>
              <a:t>Core innovation: </a:t>
            </a:r>
            <a:r>
              <a:rPr sz="1350" b="0" i="0" dirty="0">
                <a:solidFill>
                  <a:srgbClr val="334155"/>
                </a:solidFill>
                <a:latin typeface="DM Sans"/>
              </a:rPr>
              <a:t>A low-cost PLC + Raspberry Pi vision cell that presses, inspects and sorts parts on the fly</a:t>
            </a:r>
            <a:r>
              <a:rPr lang="en-IN" sz="1350" b="0" i="0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dirty="0">
                <a:solidFill>
                  <a:srgbClr val="334155"/>
                </a:solidFill>
                <a:latin typeface="DM Sans"/>
              </a:rPr>
              <a:t>no proprietary smart camera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Problem Statement &amp; Target Beneficiary</a:t>
            </a:r>
          </a:p>
        </p:txBody>
      </p:sp>
      <p:sp>
        <p:nvSpPr>
          <p:cNvPr id="6" name="Team tag"/>
          <p:cNvSpPr/>
          <p:nvPr/>
        </p:nvSpPr>
        <p:spPr>
          <a:xfrm>
            <a:off x="9692640" y="47548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wrap="square" lIns="36576" tIns="27432" rIns="36576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369A1"/>
                </a:solidFill>
                <a:latin typeface="DM Sans"/>
              </a:rPr>
              <a:t>TEAM CIPHER CORE  |  SREC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3 / 18</a:t>
            </a:r>
          </a:p>
        </p:txBody>
      </p:sp>
      <p:pic>
        <p:nvPicPr>
          <p:cNvPr id="8" name="Base cap photo" descr="base_cap.jpg"/>
          <p:cNvPicPr>
            <a:picLocks noChangeAspect="1"/>
          </p:cNvPicPr>
          <p:nvPr/>
        </p:nvPicPr>
        <p:blipFill>
          <a:blip r:embed="rId6"/>
          <a:srcRect t="8119" b="8119"/>
          <a:stretch>
            <a:fillRect/>
          </a:stretch>
        </p:blipFill>
        <p:spPr>
          <a:xfrm>
            <a:off x="530352" y="1097280"/>
            <a:ext cx="2377440" cy="2103120"/>
          </a:xfrm>
          <a:prstGeom prst="rect">
            <a:avLst/>
          </a:prstGeom>
        </p:spPr>
      </p:pic>
      <p:pic>
        <p:nvPicPr>
          <p:cNvPr id="9" name="LEO top cap photo" descr="leo_top.jpg"/>
          <p:cNvPicPr>
            <a:picLocks noChangeAspect="1"/>
          </p:cNvPicPr>
          <p:nvPr/>
        </p:nvPicPr>
        <p:blipFill>
          <a:blip r:embed="rId7"/>
          <a:srcRect l="1603" r="1603"/>
          <a:stretch>
            <a:fillRect/>
          </a:stretch>
        </p:blipFill>
        <p:spPr>
          <a:xfrm>
            <a:off x="3090672" y="1097280"/>
            <a:ext cx="2377440" cy="210312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530352" y="3246120"/>
            <a:ext cx="2377440" cy="169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64748B"/>
                </a:solidFill>
                <a:latin typeface="DM Sans"/>
              </a:rPr>
              <a:t>Component 1: base cap</a:t>
            </a:r>
          </a:p>
        </p:txBody>
      </p:sp>
      <p:sp>
        <p:nvSpPr>
          <p:cNvPr id="11" name="Caption"/>
          <p:cNvSpPr txBox="1"/>
          <p:nvPr/>
        </p:nvSpPr>
        <p:spPr>
          <a:xfrm>
            <a:off x="3090672" y="3246120"/>
            <a:ext cx="2377440" cy="169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64748B"/>
                </a:solidFill>
                <a:latin typeface="DM Sans"/>
              </a:rPr>
              <a:t>Component 2: "LEO" top cap</a:t>
            </a:r>
          </a:p>
        </p:txBody>
      </p:sp>
      <p:sp>
        <p:nvSpPr>
          <p:cNvPr id="12" name="Beneficiary card"/>
          <p:cNvSpPr/>
          <p:nvPr/>
        </p:nvSpPr>
        <p:spPr>
          <a:xfrm>
            <a:off x="530352" y="3639312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eneficiary text"/>
          <p:cNvSpPr txBox="1"/>
          <p:nvPr/>
        </p:nvSpPr>
        <p:spPr>
          <a:xfrm>
            <a:off x="731520" y="3730752"/>
            <a:ext cx="453542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F172A"/>
                </a:solidFill>
                <a:latin typeface="DM Sans"/>
              </a:rPr>
              <a:t>Target Beneficiary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DM Sans"/>
              </a:rPr>
              <a:t>Local neighbourhood manufacturing units, MSMEs and regional assembly workshops.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097280"/>
            <a:ext cx="5897880" cy="3639312"/>
          </a:xfrm>
          <a:prstGeom prst="roundRect">
            <a:avLst>
              <a:gd name="adj" fmla="val 251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roblem Statement header"/>
          <p:cNvSpPr txBox="1"/>
          <p:nvPr/>
        </p:nvSpPr>
        <p:spPr>
          <a:xfrm>
            <a:off x="5989320" y="1261872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DM Sans"/>
              </a:rPr>
              <a:t>Problem Statement</a:t>
            </a:r>
          </a:p>
        </p:txBody>
      </p:sp>
      <p:sp>
        <p:nvSpPr>
          <p:cNvPr id="16" name="Problem Statement body"/>
          <p:cNvSpPr txBox="1"/>
          <p:nvPr/>
        </p:nvSpPr>
        <p:spPr>
          <a:xfrm>
            <a:off x="5989320" y="1664207"/>
            <a:ext cx="5440680" cy="2953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059669"/>
              </a:buClr>
              <a:buFont typeface="Arial"/>
              <a:buChar char="▪"/>
            </a:pPr>
            <a:r>
              <a:rPr sz="1450" b="1" i="0" dirty="0">
                <a:solidFill>
                  <a:srgbClr val="0F172A"/>
                </a:solidFill>
                <a:latin typeface="DM Sans"/>
              </a:rPr>
              <a:t>Pain point: </a:t>
            </a:r>
            <a:r>
              <a:rPr sz="1450" b="0" i="0" dirty="0">
                <a:solidFill>
                  <a:srgbClr val="334155"/>
                </a:solidFill>
                <a:latin typeface="DM Sans"/>
              </a:rPr>
              <a:t>Local units rely on manual assembly, pressing and visual quality control.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059669"/>
              </a:buClr>
              <a:buFont typeface="Arial"/>
              <a:buChar char="▪"/>
            </a:pPr>
            <a:r>
              <a:rPr sz="1450" b="1" i="0" dirty="0">
                <a:solidFill>
                  <a:srgbClr val="0F172A"/>
                </a:solidFill>
                <a:latin typeface="DM Sans"/>
              </a:rPr>
              <a:t>Impact: </a:t>
            </a:r>
            <a:r>
              <a:rPr sz="1450" b="0" i="0" dirty="0">
                <a:solidFill>
                  <a:srgbClr val="334155"/>
                </a:solidFill>
                <a:latin typeface="DM Sans"/>
              </a:rPr>
              <a:t>Fatigue, uneven pressing force and subjective checks let text smudges, scratches and improper mating gaps pass.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059669"/>
              </a:buClr>
              <a:buFont typeface="Arial"/>
              <a:buChar char="▪"/>
            </a:pPr>
            <a:r>
              <a:rPr sz="1450" b="1" i="0" dirty="0">
                <a:solidFill>
                  <a:srgbClr val="0F172A"/>
                </a:solidFill>
                <a:latin typeface="DM Sans"/>
              </a:rPr>
              <a:t>Gap: </a:t>
            </a:r>
            <a:r>
              <a:rPr sz="1450" b="0" i="0" dirty="0">
                <a:solidFill>
                  <a:srgbClr val="334155"/>
                </a:solidFill>
                <a:latin typeface="DM Sans"/>
              </a:rPr>
              <a:t>Industrial smart cameras and PLC vision systems exist, but their cost and locked-in proprietary software put them out of reach for MSMEs.</a:t>
            </a:r>
          </a:p>
        </p:txBody>
      </p:sp>
      <p:sp>
        <p:nvSpPr>
          <p:cNvPr id="17" name="Pain card 1"/>
          <p:cNvSpPr/>
          <p:nvPr/>
        </p:nvSpPr>
        <p:spPr>
          <a:xfrm>
            <a:off x="530352" y="4919472"/>
            <a:ext cx="3566160" cy="1069848"/>
          </a:xfrm>
          <a:prstGeom prst="roundRect">
            <a:avLst>
              <a:gd name="adj" fmla="val 854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ain text 1"/>
          <p:cNvSpPr txBox="1"/>
          <p:nvPr/>
        </p:nvSpPr>
        <p:spPr>
          <a:xfrm>
            <a:off x="713232" y="5001768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E123C"/>
                </a:solidFill>
                <a:latin typeface="DM Sans"/>
              </a:rPr>
              <a:t>Fatigue &amp; inconsistent force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155"/>
                </a:solidFill>
                <a:latin typeface="DM Sans"/>
              </a:rPr>
              <a:t>Hand pressing varies from part to part and operator to operator.</a:t>
            </a:r>
          </a:p>
        </p:txBody>
      </p:sp>
      <p:sp>
        <p:nvSpPr>
          <p:cNvPr id="19" name="Pain card 2"/>
          <p:cNvSpPr/>
          <p:nvPr/>
        </p:nvSpPr>
        <p:spPr>
          <a:xfrm>
            <a:off x="4311396" y="4919472"/>
            <a:ext cx="3566160" cy="1069848"/>
          </a:xfrm>
          <a:prstGeom prst="roundRect">
            <a:avLst>
              <a:gd name="adj" fmla="val 854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in text 2"/>
          <p:cNvSpPr txBox="1"/>
          <p:nvPr/>
        </p:nvSpPr>
        <p:spPr>
          <a:xfrm>
            <a:off x="4494276" y="5001768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E123C"/>
                </a:solidFill>
                <a:latin typeface="DM Sans"/>
              </a:rPr>
              <a:t>Subjective inspection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155"/>
                </a:solidFill>
                <a:latin typeface="DM Sans"/>
              </a:rPr>
              <a:t>Eyes miss smudged letters, scratches and hairline gaps.</a:t>
            </a:r>
          </a:p>
        </p:txBody>
      </p:sp>
      <p:sp>
        <p:nvSpPr>
          <p:cNvPr id="21" name="Pain card 3"/>
          <p:cNvSpPr/>
          <p:nvPr/>
        </p:nvSpPr>
        <p:spPr>
          <a:xfrm>
            <a:off x="8092440" y="4919472"/>
            <a:ext cx="3566160" cy="1069848"/>
          </a:xfrm>
          <a:prstGeom prst="roundRect">
            <a:avLst>
              <a:gd name="adj" fmla="val 854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in text 3"/>
          <p:cNvSpPr txBox="1"/>
          <p:nvPr/>
        </p:nvSpPr>
        <p:spPr>
          <a:xfrm>
            <a:off x="8275319" y="5001768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E123C"/>
                </a:solidFill>
                <a:latin typeface="DM Sans"/>
              </a:rPr>
              <a:t>Cost &amp; vendor lock-in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155"/>
                </a:solidFill>
                <a:latin typeface="DM Sans"/>
              </a:rPr>
              <a:t>Proprietary vision systems are unaffordable for small workshops.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User Journey: Before vs After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4 / 18</a:t>
            </a:r>
          </a:p>
        </p:txBody>
      </p:sp>
      <p:sp>
        <p:nvSpPr>
          <p:cNvPr id="8" name="Before header"/>
          <p:cNvSpPr/>
          <p:nvPr/>
        </p:nvSpPr>
        <p:spPr>
          <a:xfrm>
            <a:off x="530352" y="1097280"/>
            <a:ext cx="4892040" cy="365760"/>
          </a:xfrm>
          <a:prstGeom prst="roundRect">
            <a:avLst>
              <a:gd name="adj" fmla="val 20000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E123C"/>
                </a:solidFill>
                <a:latin typeface="DM Sans"/>
              </a:rPr>
              <a:t>BEFORE: Manual workflow</a:t>
            </a:r>
          </a:p>
        </p:txBody>
      </p:sp>
      <p:sp>
        <p:nvSpPr>
          <p:cNvPr id="9" name="After header"/>
          <p:cNvSpPr/>
          <p:nvPr/>
        </p:nvSpPr>
        <p:spPr>
          <a:xfrm>
            <a:off x="6766560" y="1097280"/>
            <a:ext cx="4892040" cy="36576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wrap="square" lIns="73152" tIns="27432" rIns="73152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59669"/>
                </a:solidFill>
                <a:latin typeface="DM Sans"/>
              </a:rPr>
              <a:t>AFTER: Cipher Core automated cell</a:t>
            </a:r>
          </a:p>
        </p:txBody>
      </p:sp>
      <p:sp>
        <p:nvSpPr>
          <p:cNvPr id="10" name="Journey row"/>
          <p:cNvSpPr/>
          <p:nvPr/>
        </p:nvSpPr>
        <p:spPr>
          <a:xfrm>
            <a:off x="530352" y="1600200"/>
            <a:ext cx="4892040" cy="804672"/>
          </a:xfrm>
          <a:prstGeom prst="roundRect">
            <a:avLst>
              <a:gd name="adj" fmla="val 11363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94944" y="1819656"/>
            <a:ext cx="365760" cy="36576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12" name="Journey text"/>
          <p:cNvSpPr txBox="1"/>
          <p:nvPr/>
        </p:nvSpPr>
        <p:spPr>
          <a:xfrm>
            <a:off x="1261872" y="1791107"/>
            <a:ext cx="4023360" cy="4411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0F172A"/>
                </a:solidFill>
                <a:latin typeface="DM Sans"/>
              </a:rPr>
              <a:t>Operator places </a:t>
            </a:r>
            <a:r>
              <a:rPr lang="en-IN" sz="1300" b="1" i="0" dirty="0">
                <a:solidFill>
                  <a:srgbClr val="0F172A"/>
                </a:solidFill>
                <a:latin typeface="DM Sans"/>
              </a:rPr>
              <a:t>cover</a:t>
            </a:r>
            <a:r>
              <a:rPr sz="1300" b="1" i="0" dirty="0">
                <a:solidFill>
                  <a:srgbClr val="0F172A"/>
                </a:solidFill>
                <a:latin typeface="DM Sans"/>
              </a:rPr>
              <a:t> and </a:t>
            </a:r>
            <a:r>
              <a:rPr lang="en-IN" sz="1300" b="1" dirty="0">
                <a:solidFill>
                  <a:srgbClr val="0F172A"/>
                </a:solidFill>
                <a:latin typeface="DM Sans"/>
              </a:rPr>
              <a:t>label </a:t>
            </a:r>
            <a:r>
              <a:rPr sz="1300" b="1" i="0" dirty="0">
                <a:solidFill>
                  <a:srgbClr val="0F172A"/>
                </a:solidFill>
                <a:latin typeface="DM Sans"/>
              </a:rPr>
              <a:t>by hand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334155"/>
                </a:solidFill>
                <a:latin typeface="DM Sans"/>
              </a:rPr>
              <a:t>Slow, tiring loading step</a:t>
            </a:r>
          </a:p>
        </p:txBody>
      </p:sp>
      <p:sp>
        <p:nvSpPr>
          <p:cNvPr id="13" name="Journey row"/>
          <p:cNvSpPr/>
          <p:nvPr/>
        </p:nvSpPr>
        <p:spPr>
          <a:xfrm>
            <a:off x="6766560" y="1600200"/>
            <a:ext cx="4892040" cy="804672"/>
          </a:xfrm>
          <a:prstGeom prst="roundRect">
            <a:avLst>
              <a:gd name="adj" fmla="val 1136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931152" y="1819656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15" name="Journey text"/>
          <p:cNvSpPr txBox="1"/>
          <p:nvPr/>
        </p:nvSpPr>
        <p:spPr>
          <a:xfrm>
            <a:off x="7498080" y="169164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DM Sans"/>
              </a:rPr>
              <a:t>Feeders drop parts; cylinder presses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DM Sans"/>
              </a:rPr>
              <a:t>Consistent pneumatic mating force</a:t>
            </a:r>
          </a:p>
        </p:txBody>
      </p:sp>
      <p:sp>
        <p:nvSpPr>
          <p:cNvPr id="16" name="Journey row"/>
          <p:cNvSpPr/>
          <p:nvPr/>
        </p:nvSpPr>
        <p:spPr>
          <a:xfrm>
            <a:off x="530352" y="2514600"/>
            <a:ext cx="4892040" cy="804672"/>
          </a:xfrm>
          <a:prstGeom prst="roundRect">
            <a:avLst>
              <a:gd name="adj" fmla="val 11363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94944" y="2734056"/>
            <a:ext cx="365760" cy="36576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18" name="Journey text"/>
          <p:cNvSpPr txBox="1"/>
          <p:nvPr/>
        </p:nvSpPr>
        <p:spPr>
          <a:xfrm>
            <a:off x="1261872" y="260604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DM Sans"/>
              </a:rPr>
              <a:t>Pressed by hand, then turned over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DM Sans"/>
              </a:rPr>
              <a:t>Inconsistent force and ergonomic strain</a:t>
            </a:r>
          </a:p>
        </p:txBody>
      </p:sp>
      <p:sp>
        <p:nvSpPr>
          <p:cNvPr id="19" name="Journey row"/>
          <p:cNvSpPr/>
          <p:nvPr/>
        </p:nvSpPr>
        <p:spPr>
          <a:xfrm>
            <a:off x="6766560" y="2514600"/>
            <a:ext cx="4892040" cy="804672"/>
          </a:xfrm>
          <a:prstGeom prst="roundRect">
            <a:avLst>
              <a:gd name="adj" fmla="val 1136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31152" y="2734056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21" name="Journey text"/>
          <p:cNvSpPr txBox="1"/>
          <p:nvPr/>
        </p:nvSpPr>
        <p:spPr>
          <a:xfrm>
            <a:off x="7498080" y="260604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DM Sans"/>
              </a:rPr>
              <a:t>C-bend flips the assembly 180°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DM Sans"/>
              </a:rPr>
              <a:t>Zero-energy, hands-free reorientation</a:t>
            </a:r>
          </a:p>
        </p:txBody>
      </p:sp>
      <p:sp>
        <p:nvSpPr>
          <p:cNvPr id="22" name="Journey row"/>
          <p:cNvSpPr/>
          <p:nvPr/>
        </p:nvSpPr>
        <p:spPr>
          <a:xfrm>
            <a:off x="530352" y="3429000"/>
            <a:ext cx="4892040" cy="804672"/>
          </a:xfrm>
          <a:prstGeom prst="roundRect">
            <a:avLst>
              <a:gd name="adj" fmla="val 11363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94944" y="3648456"/>
            <a:ext cx="365760" cy="36576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24" name="Journey text"/>
          <p:cNvSpPr txBox="1"/>
          <p:nvPr/>
        </p:nvSpPr>
        <p:spPr>
          <a:xfrm>
            <a:off x="1261872" y="3619907"/>
            <a:ext cx="4023360" cy="4411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 i="0" dirty="0">
                <a:solidFill>
                  <a:srgbClr val="0F172A"/>
                </a:solidFill>
                <a:latin typeface="DM Sans"/>
              </a:rPr>
              <a:t>Manual inspection of </a:t>
            </a:r>
            <a:r>
              <a:rPr sz="1300" b="1" i="0" dirty="0">
                <a:solidFill>
                  <a:srgbClr val="0F172A"/>
                </a:solidFill>
                <a:latin typeface="DM Sans"/>
              </a:rPr>
              <a:t>text and seams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334155"/>
                </a:solidFill>
                <a:latin typeface="DM Sans"/>
              </a:rPr>
              <a:t>Fatigue misses smudges and hairline gaps</a:t>
            </a:r>
          </a:p>
        </p:txBody>
      </p:sp>
      <p:sp>
        <p:nvSpPr>
          <p:cNvPr id="25" name="Journey row"/>
          <p:cNvSpPr/>
          <p:nvPr/>
        </p:nvSpPr>
        <p:spPr>
          <a:xfrm>
            <a:off x="6766560" y="3429000"/>
            <a:ext cx="4892040" cy="804672"/>
          </a:xfrm>
          <a:prstGeom prst="roundRect">
            <a:avLst>
              <a:gd name="adj" fmla="val 1136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931152" y="3648456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27" name="Journey text"/>
          <p:cNvSpPr txBox="1"/>
          <p:nvPr/>
        </p:nvSpPr>
        <p:spPr>
          <a:xfrm>
            <a:off x="7498080" y="352044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DM Sans"/>
              </a:rPr>
              <a:t>Pi vision inspects every part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DM Sans"/>
              </a:rPr>
              <a:t>Objective, high-speed text and scratch check</a:t>
            </a:r>
          </a:p>
        </p:txBody>
      </p:sp>
      <p:sp>
        <p:nvSpPr>
          <p:cNvPr id="28" name="Journey row"/>
          <p:cNvSpPr/>
          <p:nvPr/>
        </p:nvSpPr>
        <p:spPr>
          <a:xfrm>
            <a:off x="530352" y="4343400"/>
            <a:ext cx="4892040" cy="804672"/>
          </a:xfrm>
          <a:prstGeom prst="roundRect">
            <a:avLst>
              <a:gd name="adj" fmla="val 11363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94944" y="4562856"/>
            <a:ext cx="365760" cy="36576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30" name="Journey text"/>
          <p:cNvSpPr txBox="1"/>
          <p:nvPr/>
        </p:nvSpPr>
        <p:spPr>
          <a:xfrm>
            <a:off x="1261872" y="4534307"/>
            <a:ext cx="4023360" cy="4411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0F172A"/>
                </a:solidFill>
                <a:latin typeface="DM Sans"/>
              </a:rPr>
              <a:t>Operator sorts good and </a:t>
            </a:r>
            <a:r>
              <a:rPr lang="en-IN" sz="1300" b="1" i="0" dirty="0">
                <a:solidFill>
                  <a:srgbClr val="0F172A"/>
                </a:solidFill>
                <a:latin typeface="DM Sans"/>
              </a:rPr>
              <a:t>bad components</a:t>
            </a:r>
            <a:endParaRPr sz="1300" b="1" i="0" dirty="0">
              <a:solidFill>
                <a:srgbClr val="0F172A"/>
              </a:solidFill>
              <a:latin typeface="DM Sans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334155"/>
                </a:solidFill>
                <a:latin typeface="DM Sans"/>
              </a:rPr>
              <a:t>Creates a bottleneck and slows output</a:t>
            </a:r>
          </a:p>
        </p:txBody>
      </p:sp>
      <p:sp>
        <p:nvSpPr>
          <p:cNvPr id="31" name="Journey row"/>
          <p:cNvSpPr/>
          <p:nvPr/>
        </p:nvSpPr>
        <p:spPr>
          <a:xfrm>
            <a:off x="6766560" y="4343400"/>
            <a:ext cx="4892040" cy="804672"/>
          </a:xfrm>
          <a:prstGeom prst="roundRect">
            <a:avLst>
              <a:gd name="adj" fmla="val 1136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931152" y="4562856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33" name="Journey text"/>
          <p:cNvSpPr txBox="1"/>
          <p:nvPr/>
        </p:nvSpPr>
        <p:spPr>
          <a:xfrm>
            <a:off x="7498080" y="443484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DM Sans"/>
              </a:rPr>
              <a:t>Diverter ejects defects on the fly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DM Sans"/>
              </a:rPr>
              <a:t>Conveyor never stops</a:t>
            </a:r>
          </a:p>
        </p:txBody>
      </p:sp>
      <p:sp>
        <p:nvSpPr>
          <p:cNvPr id="34" name="Automate arrow"/>
          <p:cNvSpPr/>
          <p:nvPr/>
        </p:nvSpPr>
        <p:spPr>
          <a:xfrm>
            <a:off x="5559552" y="2788920"/>
            <a:ext cx="1069848" cy="777240"/>
          </a:xfrm>
          <a:prstGeom prst="rightArrow">
            <a:avLst/>
          </a:prstGeom>
          <a:solidFill>
            <a:srgbClr val="0369A1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dirty="0">
                <a:solidFill>
                  <a:srgbClr val="FFFFFF"/>
                </a:solidFill>
                <a:latin typeface="DM Sans"/>
              </a:rPr>
              <a:t>AUTOMATE</a:t>
            </a:r>
          </a:p>
        </p:txBody>
      </p:sp>
      <p:sp>
        <p:nvSpPr>
          <p:cNvPr id="35" name="Outcome strip"/>
          <p:cNvSpPr/>
          <p:nvPr/>
        </p:nvSpPr>
        <p:spPr>
          <a:xfrm>
            <a:off x="530352" y="5321808"/>
            <a:ext cx="11128248" cy="658368"/>
          </a:xfrm>
          <a:prstGeom prst="roundRect">
            <a:avLst>
              <a:gd name="adj" fmla="val 1388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utcome text"/>
          <p:cNvSpPr txBox="1"/>
          <p:nvPr/>
        </p:nvSpPr>
        <p:spPr>
          <a:xfrm>
            <a:off x="731520" y="5438081"/>
            <a:ext cx="10725912" cy="4258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0F172A"/>
                </a:solidFill>
                <a:latin typeface="DM Sans"/>
              </a:rPr>
              <a:t>Outcome: </a:t>
            </a:r>
            <a:r>
              <a:rPr sz="1300" b="0" i="0" dirty="0">
                <a:solidFill>
                  <a:srgbClr val="334155"/>
                </a:solidFill>
                <a:latin typeface="DM Sans"/>
              </a:rPr>
              <a:t>hands-free assembly, objective inspection and zero-downtime sorting – fewer defects escaping, less rework, less operator fatigue.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Quantified Efficiency: How We Will Benchmark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5 / 18</a:t>
            </a:r>
          </a:p>
        </p:txBody>
      </p:sp>
      <p:graphicFrame>
        <p:nvGraphicFramePr>
          <p:cNvPr id="8" name="Benchmark table"/>
          <p:cNvGraphicFramePr>
            <a:graphicFrameLocks noGrp="1"/>
          </p:cNvGraphicFramePr>
          <p:nvPr/>
        </p:nvGraphicFramePr>
        <p:xfrm>
          <a:off x="530352" y="1097280"/>
          <a:ext cx="11128248" cy="3703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Parameter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Manual process (before)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Cipher Core cell (after)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How we validate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Pressing force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Varies by operator and fatigue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Regulated pneumatic cylinder, fixed stroke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Gap / seating consistency over a batch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Inspection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Subjective, fatigue-prone eyeballing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Image subtraction + edge detection on every part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Detection rate on seeded-defect samples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Sorting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Manual; interrupts the flow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On-the-fly diverter; conveyor keeps moving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Rejects diverted with no conveyor stop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Operator involvement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Continuous handling and checking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Load feeders, empty bins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Manual touchpoints per part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Inspection cost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Proprietary smart camera + licences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Raspberry Pi + open-source OpenCV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BOM cost vs a commercial vision unit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Benchmark note"/>
          <p:cNvSpPr/>
          <p:nvPr/>
        </p:nvSpPr>
        <p:spPr>
          <a:xfrm>
            <a:off x="530352" y="5074920"/>
            <a:ext cx="11128248" cy="868680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enchmark note text"/>
          <p:cNvSpPr txBox="1"/>
          <p:nvPr/>
        </p:nvSpPr>
        <p:spPr>
          <a:xfrm>
            <a:off x="731520" y="5120640"/>
            <a:ext cx="107259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DM Sans"/>
              </a:rPr>
              <a:t>Metrics tracked in Phase 5 testing: </a:t>
            </a:r>
            <a:r>
              <a:rPr sz="1300" b="0" i="0">
                <a:solidFill>
                  <a:srgbClr val="334155"/>
                </a:solidFill>
                <a:latin typeface="DM Sans"/>
              </a:rPr>
              <a:t>cycle time per part, defect-detection rate, false-reject rate and manual touchpoints – compared against the manual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System Architecture: Block Diagram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6 / 18</a:t>
            </a:r>
          </a:p>
        </p:txBody>
      </p:sp>
      <p:sp>
        <p:nvSpPr>
          <p:cNvPr id="8" name="Station 1"/>
          <p:cNvSpPr/>
          <p:nvPr/>
        </p:nvSpPr>
        <p:spPr>
          <a:xfrm>
            <a:off x="530352" y="1097280"/>
            <a:ext cx="2212848" cy="731520"/>
          </a:xfrm>
          <a:prstGeom prst="homePlate">
            <a:avLst/>
          </a:prstGeom>
          <a:solidFill>
            <a:srgbClr val="0369A1"/>
          </a:solidFill>
          <a:ln>
            <a:noFill/>
          </a:ln>
          <a:effectLst/>
        </p:spPr>
        <p:txBody>
          <a:bodyPr wrap="square" tIns="27432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DM Sans"/>
              </a:rPr>
              <a:t>1  Base Feeding</a:t>
            </a:r>
          </a:p>
        </p:txBody>
      </p:sp>
      <p:sp>
        <p:nvSpPr>
          <p:cNvPr id="9" name="Station 2"/>
          <p:cNvSpPr/>
          <p:nvPr/>
        </p:nvSpPr>
        <p:spPr>
          <a:xfrm>
            <a:off x="2759202" y="1097280"/>
            <a:ext cx="2212848" cy="731520"/>
          </a:xfrm>
          <a:prstGeom prst="homePlate">
            <a:avLst/>
          </a:prstGeom>
          <a:solidFill>
            <a:srgbClr val="0369A1"/>
          </a:solidFill>
          <a:ln>
            <a:noFill/>
          </a:ln>
          <a:effectLst/>
        </p:spPr>
        <p:txBody>
          <a:bodyPr wrap="square" tIns="27432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DM Sans"/>
              </a:rPr>
              <a:t>2  Mating &amp; Pressing</a:t>
            </a:r>
          </a:p>
        </p:txBody>
      </p:sp>
      <p:sp>
        <p:nvSpPr>
          <p:cNvPr id="10" name="Station 3"/>
          <p:cNvSpPr/>
          <p:nvPr/>
        </p:nvSpPr>
        <p:spPr>
          <a:xfrm>
            <a:off x="4988052" y="1097280"/>
            <a:ext cx="2212848" cy="731520"/>
          </a:xfrm>
          <a:prstGeom prst="homePlate">
            <a:avLst/>
          </a:prstGeom>
          <a:solidFill>
            <a:srgbClr val="0369A1"/>
          </a:solidFill>
          <a:ln>
            <a:noFill/>
          </a:ln>
          <a:effectLst/>
        </p:spPr>
        <p:txBody>
          <a:bodyPr wrap="square" tIns="27432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DM Sans"/>
              </a:rPr>
              <a:t>3  C-Bend 180° Flip</a:t>
            </a:r>
          </a:p>
        </p:txBody>
      </p:sp>
      <p:sp>
        <p:nvSpPr>
          <p:cNvPr id="11" name="Station 4"/>
          <p:cNvSpPr/>
          <p:nvPr/>
        </p:nvSpPr>
        <p:spPr>
          <a:xfrm>
            <a:off x="7216902" y="1097280"/>
            <a:ext cx="2212848" cy="731520"/>
          </a:xfrm>
          <a:prstGeom prst="homePlate">
            <a:avLst/>
          </a:prstGeom>
          <a:solidFill>
            <a:srgbClr val="059669"/>
          </a:solidFill>
          <a:ln>
            <a:noFill/>
          </a:ln>
          <a:effectLst/>
        </p:spPr>
        <p:txBody>
          <a:bodyPr wrap="square" tIns="27432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DM Sans"/>
              </a:rPr>
              <a:t>4  Pi Vision Inspection</a:t>
            </a:r>
          </a:p>
        </p:txBody>
      </p:sp>
      <p:sp>
        <p:nvSpPr>
          <p:cNvPr id="12" name="Station 5"/>
          <p:cNvSpPr/>
          <p:nvPr/>
        </p:nvSpPr>
        <p:spPr>
          <a:xfrm>
            <a:off x="9445752" y="1097280"/>
            <a:ext cx="2212848" cy="731520"/>
          </a:xfrm>
          <a:prstGeom prst="homePlate">
            <a:avLst/>
          </a:prstGeom>
          <a:solidFill>
            <a:srgbClr val="0369A1"/>
          </a:solidFill>
          <a:ln>
            <a:noFill/>
          </a:ln>
          <a:effectLst/>
        </p:spPr>
        <p:txBody>
          <a:bodyPr wrap="square" tIns="27432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DM Sans"/>
              </a:rPr>
              <a:t>5  Pneumatic Sorting</a:t>
            </a:r>
          </a:p>
        </p:txBody>
      </p:sp>
      <p:sp>
        <p:nvSpPr>
          <p:cNvPr id="13" name="Subsystem card 1"/>
          <p:cNvSpPr/>
          <p:nvPr/>
        </p:nvSpPr>
        <p:spPr>
          <a:xfrm>
            <a:off x="530352" y="2057400"/>
            <a:ext cx="2670048" cy="2697480"/>
          </a:xfrm>
          <a:prstGeom prst="roundRect">
            <a:avLst>
              <a:gd name="adj" fmla="val 3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17627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369A1"/>
                </a:solidFill>
                <a:latin typeface="DM Sans"/>
              </a:rPr>
              <a:t>Mechanical Structure</a:t>
            </a:r>
          </a:p>
        </p:txBody>
      </p:sp>
      <p:sp>
        <p:nvSpPr>
          <p:cNvPr id="15" name="Subsystem list 1"/>
          <p:cNvSpPr txBox="1"/>
          <p:nvPr/>
        </p:nvSpPr>
        <p:spPr>
          <a:xfrm>
            <a:off x="713232" y="2606040"/>
            <a:ext cx="2331720" cy="1597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T-slot aluminum frame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Two gravity feeders + optical sensors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Conveyor and passive C-bend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Adjustable camera arch</a:t>
            </a:r>
          </a:p>
        </p:txBody>
      </p:sp>
      <p:sp>
        <p:nvSpPr>
          <p:cNvPr id="16" name="Subsystem card 2"/>
          <p:cNvSpPr/>
          <p:nvPr/>
        </p:nvSpPr>
        <p:spPr>
          <a:xfrm>
            <a:off x="3349447" y="2057400"/>
            <a:ext cx="2670048" cy="2697480"/>
          </a:xfrm>
          <a:prstGeom prst="roundRect">
            <a:avLst>
              <a:gd name="adj" fmla="val 3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32327" y="217627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369A1"/>
                </a:solidFill>
                <a:latin typeface="DM Sans"/>
              </a:rPr>
              <a:t>Actuation &amp; Power</a:t>
            </a:r>
          </a:p>
        </p:txBody>
      </p:sp>
      <p:sp>
        <p:nvSpPr>
          <p:cNvPr id="18" name="Subsystem list 2"/>
          <p:cNvSpPr txBox="1"/>
          <p:nvPr/>
        </p:nvSpPr>
        <p:spPr>
          <a:xfrm>
            <a:off x="3532327" y="2606040"/>
            <a:ext cx="2331720" cy="1597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4 double-acting cylinders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5/2 solenoid valves on one manifold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Press and diverter cylinders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24 V DC supply, conveyor drives</a:t>
            </a:r>
          </a:p>
        </p:txBody>
      </p:sp>
      <p:sp>
        <p:nvSpPr>
          <p:cNvPr id="19" name="Subsystem card 3"/>
          <p:cNvSpPr/>
          <p:nvPr/>
        </p:nvSpPr>
        <p:spPr>
          <a:xfrm>
            <a:off x="6168542" y="2057400"/>
            <a:ext cx="2670048" cy="2697480"/>
          </a:xfrm>
          <a:prstGeom prst="roundRect">
            <a:avLst>
              <a:gd name="adj" fmla="val 3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1422" y="217627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369A1"/>
                </a:solidFill>
                <a:latin typeface="DM Sans"/>
              </a:rPr>
              <a:t>Electronic Controllers</a:t>
            </a:r>
          </a:p>
        </p:txBody>
      </p:sp>
      <p:sp>
        <p:nvSpPr>
          <p:cNvPr id="21" name="Subsystem list 3"/>
          <p:cNvSpPr txBox="1"/>
          <p:nvPr/>
        </p:nvSpPr>
        <p:spPr>
          <a:xfrm>
            <a:off x="6351422" y="2606040"/>
            <a:ext cx="2331720" cy="1597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Delta PLC, 24 V DC I/O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Raspberry Pi 4 + Pi Camera (CSI)</a:t>
            </a:r>
          </a:p>
          <a:p>
            <a:pPr marL="182880" indent="-18288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 err="1">
                <a:solidFill>
                  <a:srgbClr val="334155"/>
                </a:solidFill>
                <a:latin typeface="DM Sans"/>
              </a:rPr>
              <a:t>Optocoupler</a:t>
            </a:r>
            <a:r>
              <a:rPr sz="1300" b="0" i="0" dirty="0">
                <a:solidFill>
                  <a:srgbClr val="334155"/>
                </a:solidFill>
                <a:latin typeface="DM Sans"/>
              </a:rPr>
              <a:t> isolation boards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DIN-rail control cabinet</a:t>
            </a:r>
          </a:p>
        </p:txBody>
      </p:sp>
      <p:sp>
        <p:nvSpPr>
          <p:cNvPr id="22" name="Subsystem card 4"/>
          <p:cNvSpPr/>
          <p:nvPr/>
        </p:nvSpPr>
        <p:spPr>
          <a:xfrm>
            <a:off x="8987637" y="2057400"/>
            <a:ext cx="2670048" cy="2697480"/>
          </a:xfrm>
          <a:prstGeom prst="roundRect">
            <a:avLst>
              <a:gd name="adj" fmla="val 3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0517" y="217627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369A1"/>
                </a:solidFill>
                <a:latin typeface="DM Sans"/>
              </a:rPr>
              <a:t>Firmware &amp; Logic</a:t>
            </a:r>
          </a:p>
        </p:txBody>
      </p:sp>
      <p:sp>
        <p:nvSpPr>
          <p:cNvPr id="24" name="Subsystem list 4"/>
          <p:cNvSpPr txBox="1"/>
          <p:nvPr/>
        </p:nvSpPr>
        <p:spPr>
          <a:xfrm>
            <a:off x="9170517" y="2606040"/>
            <a:ext cx="2331720" cy="1814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 err="1">
                <a:solidFill>
                  <a:srgbClr val="334155"/>
                </a:solidFill>
                <a:latin typeface="DM Sans"/>
              </a:rPr>
              <a:t>OpenCV</a:t>
            </a:r>
            <a:r>
              <a:rPr sz="1300" b="0" i="0" dirty="0">
                <a:solidFill>
                  <a:srgbClr val="334155"/>
                </a:solidFill>
                <a:latin typeface="DM Sans"/>
              </a:rPr>
              <a:t>: image subtraction + edges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Pi outputs OK / NOT OK on GPIO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Ladder: latching, timers, counters</a:t>
            </a:r>
          </a:p>
          <a:p>
            <a:pPr marL="182880" indent="-182880" algn="just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59669"/>
              </a:buClr>
              <a:buFont typeface="Arial"/>
              <a:buChar char="▪"/>
            </a:pPr>
            <a:r>
              <a:rPr sz="1300" b="0" i="0" dirty="0">
                <a:solidFill>
                  <a:srgbClr val="334155"/>
                </a:solidFill>
                <a:latin typeface="DM Sans"/>
              </a:rPr>
              <a:t>NC fail-safe interlocks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873752"/>
            <a:ext cx="111282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DM Sans"/>
              </a:rPr>
              <a:t>SIGNAL PATH: FROM VISION RESULT TO PNEUMATIC ACTION</a:t>
            </a:r>
          </a:p>
        </p:txBody>
      </p:sp>
      <p:sp>
        <p:nvSpPr>
          <p:cNvPr id="26" name="Chain 1"/>
          <p:cNvSpPr/>
          <p:nvPr/>
        </p:nvSpPr>
        <p:spPr>
          <a:xfrm>
            <a:off x="530352" y="5193792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dirty="0">
                <a:solidFill>
                  <a:srgbClr val="0F172A"/>
                </a:solidFill>
                <a:latin typeface="DM Sans"/>
              </a:rPr>
              <a:t>Pi Camera (CSI)</a:t>
            </a:r>
          </a:p>
        </p:txBody>
      </p:sp>
      <p:sp>
        <p:nvSpPr>
          <p:cNvPr id="27" name="Chain arrow"/>
          <p:cNvSpPr/>
          <p:nvPr/>
        </p:nvSpPr>
        <p:spPr>
          <a:xfrm>
            <a:off x="2167128" y="5458968"/>
            <a:ext cx="228600" cy="201168"/>
          </a:xfrm>
          <a:prstGeom prst="rightArrow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hain 2"/>
          <p:cNvSpPr/>
          <p:nvPr/>
        </p:nvSpPr>
        <p:spPr>
          <a:xfrm>
            <a:off x="2435961" y="5193792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DM Sans"/>
              </a:rPr>
              <a:t>Raspberry Pi (OpenCV)</a:t>
            </a:r>
          </a:p>
        </p:txBody>
      </p:sp>
      <p:sp>
        <p:nvSpPr>
          <p:cNvPr id="29" name="Chain arrow"/>
          <p:cNvSpPr/>
          <p:nvPr/>
        </p:nvSpPr>
        <p:spPr>
          <a:xfrm>
            <a:off x="4072737" y="5458968"/>
            <a:ext cx="228600" cy="201168"/>
          </a:xfrm>
          <a:prstGeom prst="rightArrow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hain 3"/>
          <p:cNvSpPr/>
          <p:nvPr/>
        </p:nvSpPr>
        <p:spPr>
          <a:xfrm>
            <a:off x="4341571" y="5193792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DM Sans"/>
              </a:rPr>
              <a:t>GPIO 3.3 V</a:t>
            </a:r>
          </a:p>
        </p:txBody>
      </p:sp>
      <p:sp>
        <p:nvSpPr>
          <p:cNvPr id="31" name="Chain arrow"/>
          <p:cNvSpPr/>
          <p:nvPr/>
        </p:nvSpPr>
        <p:spPr>
          <a:xfrm>
            <a:off x="5978347" y="5458968"/>
            <a:ext cx="228600" cy="201168"/>
          </a:xfrm>
          <a:prstGeom prst="rightArrow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hain 4"/>
          <p:cNvSpPr/>
          <p:nvPr/>
        </p:nvSpPr>
        <p:spPr>
          <a:xfrm>
            <a:off x="6247180" y="5193792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DM Sans"/>
              </a:rPr>
              <a:t>Optocoupler</a:t>
            </a:r>
          </a:p>
        </p:txBody>
      </p:sp>
      <p:sp>
        <p:nvSpPr>
          <p:cNvPr id="33" name="Chain arrow"/>
          <p:cNvSpPr/>
          <p:nvPr/>
        </p:nvSpPr>
        <p:spPr>
          <a:xfrm>
            <a:off x="7883956" y="5458968"/>
            <a:ext cx="228600" cy="201168"/>
          </a:xfrm>
          <a:prstGeom prst="rightArrow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Chain 5"/>
          <p:cNvSpPr/>
          <p:nvPr/>
        </p:nvSpPr>
        <p:spPr>
          <a:xfrm>
            <a:off x="8152790" y="5193792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dirty="0">
                <a:solidFill>
                  <a:srgbClr val="0F172A"/>
                </a:solidFill>
                <a:latin typeface="DM Sans"/>
              </a:rPr>
              <a:t>PLC input</a:t>
            </a:r>
          </a:p>
        </p:txBody>
      </p:sp>
      <p:sp>
        <p:nvSpPr>
          <p:cNvPr id="35" name="Chain arrow"/>
          <p:cNvSpPr/>
          <p:nvPr/>
        </p:nvSpPr>
        <p:spPr>
          <a:xfrm>
            <a:off x="9789566" y="5458968"/>
            <a:ext cx="228600" cy="201168"/>
          </a:xfrm>
          <a:prstGeom prst="rightArrow">
            <a:avLst/>
          </a:prstGeom>
          <a:solidFill>
            <a:srgbClr val="0369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hain 6"/>
          <p:cNvSpPr/>
          <p:nvPr/>
        </p:nvSpPr>
        <p:spPr>
          <a:xfrm>
            <a:off x="10057485" y="520065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dirty="0">
                <a:solidFill>
                  <a:srgbClr val="0F172A"/>
                </a:solidFill>
                <a:latin typeface="DM Sans"/>
              </a:rPr>
              <a:t>Solenoid + diverter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Target Specifications &amp; Hardware Selection</a:t>
            </a:r>
          </a:p>
        </p:txBody>
      </p:sp>
      <p:sp>
        <p:nvSpPr>
          <p:cNvPr id="6" name="Team tag"/>
          <p:cNvSpPr/>
          <p:nvPr/>
        </p:nvSpPr>
        <p:spPr>
          <a:xfrm>
            <a:off x="9692640" y="47548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wrap="square" lIns="36576" tIns="27432" rIns="36576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369A1"/>
                </a:solidFill>
                <a:latin typeface="DM Sans"/>
              </a:rPr>
              <a:t>TEAM CIPHER CORE  |  SREC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7 / 18</a:t>
            </a:r>
          </a:p>
        </p:txBody>
      </p:sp>
      <p:graphicFrame>
        <p:nvGraphicFramePr>
          <p:cNvPr id="8" name="Specific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057961"/>
              </p:ext>
            </p:extLst>
          </p:nvPr>
        </p:nvGraphicFramePr>
        <p:xfrm>
          <a:off x="530352" y="1097280"/>
          <a:ext cx="11128248" cy="39684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1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dirty="0">
                          <a:solidFill>
                            <a:srgbClr val="0F172A"/>
                          </a:solidFill>
                          <a:latin typeface="DM Sans"/>
                        </a:rPr>
                        <a:t>Parameter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Target Spec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Selected Hardware / Protocol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Process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5-station inline cycle: feed, press, flip, inspect, sort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Two gravity feeders with optical stack sensors; linear conveyor; passive C-type bend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Actuation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4 double-acting cylinders, 25 mm × 50 mm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5/2-way solenoid valves on a central manifold; 10 bar supply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Control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24 V DC logic with latched, fail-safe operation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Delta PLC, WPLSoft ladder program; NC stop and interlock contacts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Vision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4 checks per part: LEO text, smudges, scratches, air gap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Raspberry Pi 4 + Pi Camera (CSI), white LED lighting, OpenCV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Interface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Safe 3.3 V to 24 V signal transfer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Optocoupler isolation boards between Pi GPIO and PLC inputs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Sorting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On-the-fly rejection, conveyor never stops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Electro-pneumatic diverter cylinder into a reject bin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Structure &amp; wiring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Rigid, reconfigurable, serviceable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T-slot aluminium extrusion, DIN rails, PVC ducts (24 V and 3.3 V separated)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ationale strip"/>
          <p:cNvSpPr/>
          <p:nvPr/>
        </p:nvSpPr>
        <p:spPr>
          <a:xfrm>
            <a:off x="530352" y="5440680"/>
            <a:ext cx="11128248" cy="54864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ationale text"/>
          <p:cNvSpPr txBox="1"/>
          <p:nvPr/>
        </p:nvSpPr>
        <p:spPr>
          <a:xfrm>
            <a:off x="731520" y="5458968"/>
            <a:ext cx="1072591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72A"/>
                </a:solidFill>
                <a:latin typeface="DM Sans"/>
              </a:rPr>
              <a:t>Architecture rationale: </a:t>
            </a:r>
            <a:r>
              <a:rPr sz="1250" b="0" i="0">
                <a:solidFill>
                  <a:srgbClr val="334155"/>
                </a:solidFill>
                <a:latin typeface="DM Sans"/>
              </a:rPr>
              <a:t>optocoupler isolation lets a low-cost 3.3 V Raspberry Pi trigger industrial 24 V PLC logic safely.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CAD Design: 3D Renders</a:t>
            </a:r>
          </a:p>
        </p:txBody>
      </p:sp>
      <p:sp>
        <p:nvSpPr>
          <p:cNvPr id="6" name="Team tag"/>
          <p:cNvSpPr/>
          <p:nvPr/>
        </p:nvSpPr>
        <p:spPr>
          <a:xfrm>
            <a:off x="9692640" y="47548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wrap="square" lIns="36576" tIns="27432" rIns="36576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369A1"/>
                </a:solidFill>
                <a:latin typeface="DM Sans"/>
              </a:rPr>
              <a:t>TEAM CIPHER CORE  |  SREC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8 / 18</a:t>
            </a:r>
          </a:p>
        </p:txBody>
      </p:sp>
      <p:sp>
        <p:nvSpPr>
          <p:cNvPr id="8" name="Isometric card"/>
          <p:cNvSpPr/>
          <p:nvPr/>
        </p:nvSpPr>
        <p:spPr>
          <a:xfrm>
            <a:off x="530352" y="1097280"/>
            <a:ext cx="51206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sometric CAD view" descr="cad_is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380835"/>
            <a:ext cx="4901184" cy="4050608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40080" y="5650992"/>
            <a:ext cx="4901184" cy="169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64748B"/>
                </a:solidFill>
                <a:latin typeface="DM Sans"/>
              </a:rPr>
              <a:t>Figure: Isometric view of the complete assembly line</a:t>
            </a:r>
          </a:p>
        </p:txBody>
      </p:sp>
      <p:sp>
        <p:nvSpPr>
          <p:cNvPr id="11" name="Camera view card"/>
          <p:cNvSpPr/>
          <p:nvPr/>
        </p:nvSpPr>
        <p:spPr>
          <a:xfrm>
            <a:off x="5852160" y="1097280"/>
            <a:ext cx="2834640" cy="224028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Camera arch view" descr="cad_camer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108" y="1170432"/>
            <a:ext cx="2452743" cy="1737360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5925312" y="2990088"/>
            <a:ext cx="2688336" cy="169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64748B"/>
                </a:solidFill>
                <a:latin typeface="DM Sans"/>
              </a:rPr>
              <a:t>Camera arch and bins</a:t>
            </a:r>
          </a:p>
        </p:txBody>
      </p:sp>
      <p:sp>
        <p:nvSpPr>
          <p:cNvPr id="14" name="Top view card"/>
          <p:cNvSpPr/>
          <p:nvPr/>
        </p:nvSpPr>
        <p:spPr>
          <a:xfrm>
            <a:off x="8823960" y="1097280"/>
            <a:ext cx="2834640" cy="224028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Top view" descr="cad_to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2428" y="1170432"/>
            <a:ext cx="2637703" cy="1737359"/>
          </a:xfrm>
          <a:prstGeom prst="rect">
            <a:avLst/>
          </a:prstGeom>
        </p:spPr>
      </p:pic>
      <p:sp>
        <p:nvSpPr>
          <p:cNvPr id="16" name="Caption"/>
          <p:cNvSpPr txBox="1"/>
          <p:nvPr/>
        </p:nvSpPr>
        <p:spPr>
          <a:xfrm>
            <a:off x="8897112" y="2990088"/>
            <a:ext cx="2688336" cy="169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64748B"/>
                </a:solidFill>
                <a:latin typeface="DM Sans"/>
              </a:rPr>
              <a:t>Top view: conveyor and feeders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520440"/>
            <a:ext cx="5806440" cy="2468880"/>
          </a:xfrm>
          <a:prstGeom prst="roundRect">
            <a:avLst>
              <a:gd name="adj" fmla="val 370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Key Mechanical Features header"/>
          <p:cNvSpPr txBox="1"/>
          <p:nvPr/>
        </p:nvSpPr>
        <p:spPr>
          <a:xfrm>
            <a:off x="6080760" y="3685032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DM Sans"/>
              </a:rPr>
              <a:t>Key Mechanical Features</a:t>
            </a:r>
          </a:p>
        </p:txBody>
      </p:sp>
      <p:sp>
        <p:nvSpPr>
          <p:cNvPr id="19" name="Key Mechanical Features body"/>
          <p:cNvSpPr txBox="1"/>
          <p:nvPr/>
        </p:nvSpPr>
        <p:spPr>
          <a:xfrm>
            <a:off x="6080760" y="4087368"/>
            <a:ext cx="534924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059669"/>
              </a:buClr>
              <a:buFont typeface="Arial"/>
              <a:buChar char="▪"/>
            </a:pPr>
            <a:r>
              <a:rPr sz="1250" b="1" i="0">
                <a:solidFill>
                  <a:srgbClr val="0F172A"/>
                </a:solidFill>
                <a:latin typeface="DM Sans"/>
              </a:rPr>
              <a:t>Feeders: </a:t>
            </a:r>
            <a:r>
              <a:rPr sz="1250" b="0" i="0">
                <a:solidFill>
                  <a:srgbClr val="334155"/>
                </a:solidFill>
                <a:latin typeface="DM Sans"/>
              </a:rPr>
              <a:t>stacked magazines with gate release drop base and top parts one by one.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059669"/>
              </a:buClr>
              <a:buFont typeface="Arial"/>
              <a:buChar char="▪"/>
            </a:pPr>
            <a:r>
              <a:rPr sz="1250" b="1" i="0">
                <a:solidFill>
                  <a:srgbClr val="0F172A"/>
                </a:solidFill>
                <a:latin typeface="DM Sans"/>
              </a:rPr>
              <a:t>C-bend: </a:t>
            </a:r>
            <a:r>
              <a:rPr sz="1250" b="0" i="0">
                <a:solidFill>
                  <a:srgbClr val="334155"/>
                </a:solidFill>
                <a:latin typeface="DM Sans"/>
              </a:rPr>
              <a:t>passive 180° gravity flip exposes the labelled side.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059669"/>
              </a:buClr>
              <a:buFont typeface="Arial"/>
              <a:buChar char="▪"/>
            </a:pPr>
            <a:r>
              <a:rPr sz="1250" b="1" i="0">
                <a:solidFill>
                  <a:srgbClr val="0F172A"/>
                </a:solidFill>
                <a:latin typeface="DM Sans"/>
              </a:rPr>
              <a:t>Vision arch: </a:t>
            </a:r>
            <a:r>
              <a:rPr sz="1250" b="0" i="0">
                <a:solidFill>
                  <a:srgbClr val="334155"/>
                </a:solidFill>
                <a:latin typeface="DM Sans"/>
              </a:rPr>
              <a:t>adjustable bracket holds the Pi Camera and LED lighting.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Clr>
                <a:srgbClr val="059669"/>
              </a:buClr>
              <a:buFont typeface="Arial"/>
              <a:buChar char="▪"/>
            </a:pPr>
            <a:r>
              <a:rPr sz="1250" b="1" i="0">
                <a:solidFill>
                  <a:srgbClr val="0F172A"/>
                </a:solidFill>
                <a:latin typeface="DM Sans"/>
              </a:rPr>
              <a:t>Sorting: </a:t>
            </a:r>
            <a:r>
              <a:rPr sz="1250" b="0" i="0">
                <a:solidFill>
                  <a:srgbClr val="334155"/>
                </a:solidFill>
                <a:latin typeface="DM Sans"/>
              </a:rPr>
              <a:t>diverter cylinder pushes NOT-OK parts into the reject bin.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2D Engineering Drawing &amp; Mechanical Specs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9 / 18</a:t>
            </a:r>
          </a:p>
        </p:txBody>
      </p:sp>
      <p:sp>
        <p:nvSpPr>
          <p:cNvPr id="8" name="Drawing card"/>
          <p:cNvSpPr/>
          <p:nvPr/>
        </p:nvSpPr>
        <p:spPr>
          <a:xfrm>
            <a:off x="530352" y="1097280"/>
            <a:ext cx="690372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2D drawing" descr="drawing.png"/>
          <p:cNvPicPr>
            <a:picLocks noChangeAspect="1"/>
          </p:cNvPicPr>
          <p:nvPr/>
        </p:nvPicPr>
        <p:blipFill>
          <a:blip r:embed="rId6"/>
          <a:srcRect b="14874"/>
          <a:stretch>
            <a:fillRect/>
          </a:stretch>
        </p:blipFill>
        <p:spPr>
          <a:xfrm>
            <a:off x="895508" y="1170432"/>
            <a:ext cx="6173407" cy="3775194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21792" y="5650992"/>
            <a:ext cx="6720840" cy="174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64748B"/>
                </a:solidFill>
                <a:latin typeface="DM Sans"/>
              </a:rPr>
              <a:t>Figure: </a:t>
            </a:r>
            <a:r>
              <a:rPr lang="en-IN" sz="1050" b="0" i="0" dirty="0">
                <a:solidFill>
                  <a:srgbClr val="64748B"/>
                </a:solidFill>
                <a:latin typeface="DM Sans"/>
              </a:rPr>
              <a:t>CAD 2D Diagram of the proposed system</a:t>
            </a:r>
            <a:endParaRPr sz="1050" b="0" i="0" dirty="0">
              <a:solidFill>
                <a:srgbClr val="64748B"/>
              </a:solidFill>
              <a:latin typeface="DM San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16952" y="1097280"/>
            <a:ext cx="4041648" cy="4892040"/>
          </a:xfrm>
          <a:prstGeom prst="roundRect">
            <a:avLst>
              <a:gd name="adj" fmla="val 226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aterials &amp; Mechanical Specs header"/>
          <p:cNvSpPr txBox="1"/>
          <p:nvPr/>
        </p:nvSpPr>
        <p:spPr>
          <a:xfrm>
            <a:off x="7845552" y="1261872"/>
            <a:ext cx="35844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DM Sans"/>
              </a:rPr>
              <a:t>Materials &amp; Mechanical Specs</a:t>
            </a:r>
          </a:p>
        </p:txBody>
      </p:sp>
      <p:sp>
        <p:nvSpPr>
          <p:cNvPr id="13" name="Materials &amp; Mechanical Specs body"/>
          <p:cNvSpPr txBox="1"/>
          <p:nvPr/>
        </p:nvSpPr>
        <p:spPr>
          <a:xfrm>
            <a:off x="7845552" y="1664207"/>
            <a:ext cx="3584448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250" b="1" i="0">
                <a:solidFill>
                  <a:srgbClr val="0F172A"/>
                </a:solidFill>
                <a:latin typeface="DM Sans"/>
              </a:rPr>
              <a:t>Frame: </a:t>
            </a:r>
            <a:r>
              <a:rPr sz="1250" b="0" i="0">
                <a:solidFill>
                  <a:srgbClr val="334155"/>
                </a:solidFill>
                <a:latin typeface="DM Sans"/>
              </a:rPr>
              <a:t>T-slot aluminium extrusion – rigid, light, re-configurable without welding.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250" b="1" i="0">
                <a:solidFill>
                  <a:srgbClr val="0F172A"/>
                </a:solidFill>
                <a:latin typeface="DM Sans"/>
              </a:rPr>
              <a:t>Fastening: </a:t>
            </a:r>
            <a:r>
              <a:rPr sz="1250" b="0" i="0">
                <a:solidFill>
                  <a:srgbClr val="334155"/>
                </a:solidFill>
                <a:latin typeface="DM Sans"/>
              </a:rPr>
              <a:t>T-nuts and corner brackets hold cylinders and sensors steady under repeated pressing.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250" b="1" i="0">
                <a:solidFill>
                  <a:srgbClr val="0F172A"/>
                </a:solidFill>
                <a:latin typeface="DM Sans"/>
              </a:rPr>
              <a:t>C-bend: </a:t>
            </a:r>
            <a:r>
              <a:rPr sz="1250" b="0" i="0">
                <a:solidFill>
                  <a:srgbClr val="334155"/>
                </a:solidFill>
                <a:latin typeface="DM Sans"/>
              </a:rPr>
              <a:t>passive gravity track – no motor, no energy.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250" b="1" i="0">
                <a:solidFill>
                  <a:srgbClr val="0F172A"/>
                </a:solidFill>
                <a:latin typeface="DM Sans"/>
              </a:rPr>
              <a:t>Camera mount: </a:t>
            </a:r>
            <a:r>
              <a:rPr sz="1250" b="0" i="0">
                <a:solidFill>
                  <a:srgbClr val="334155"/>
                </a:solidFill>
                <a:latin typeface="DM Sans"/>
              </a:rPr>
              <a:t>articulating brackets for focus and shadow control.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250" b="1" i="0">
                <a:solidFill>
                  <a:srgbClr val="0F172A"/>
                </a:solidFill>
                <a:latin typeface="DM Sans"/>
              </a:rPr>
              <a:t>Structural check: </a:t>
            </a:r>
            <a:r>
              <a:rPr sz="1250" b="0" i="0">
                <a:solidFill>
                  <a:srgbClr val="334155"/>
                </a:solidFill>
                <a:latin typeface="DM Sans"/>
              </a:rPr>
              <a:t>loads are light (plastic caps, 25 mm cylinders); FEA of the press mount is planned in fabrication.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424539"/>
            <a:ext cx="9052560" cy="3853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 dirty="0">
                <a:solidFill>
                  <a:srgbClr val="0F172A"/>
                </a:solidFill>
                <a:latin typeface="Poppins SemiBold"/>
              </a:rPr>
              <a:t>Electro-Pneumatic Circuit</a:t>
            </a:r>
          </a:p>
        </p:txBody>
      </p:sp>
      <p:sp>
        <p:nvSpPr>
          <p:cNvPr id="6" name="Team tag"/>
          <p:cNvSpPr/>
          <p:nvPr/>
        </p:nvSpPr>
        <p:spPr>
          <a:xfrm>
            <a:off x="9692640" y="47548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wrap="square" lIns="36576" tIns="27432" rIns="36576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369A1"/>
                </a:solidFill>
                <a:latin typeface="DM Sans"/>
              </a:rPr>
              <a:t>TEAM CIPHER CORE  |  SREC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10 / 18</a:t>
            </a:r>
          </a:p>
        </p:txBody>
      </p:sp>
      <p:sp>
        <p:nvSpPr>
          <p:cNvPr id="8" name="Circuit card"/>
          <p:cNvSpPr/>
          <p:nvPr/>
        </p:nvSpPr>
        <p:spPr>
          <a:xfrm>
            <a:off x="530352" y="1097280"/>
            <a:ext cx="722376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Automation Studio circuit" descr="circuit.png"/>
          <p:cNvPicPr>
            <a:picLocks noChangeAspect="1"/>
          </p:cNvPicPr>
          <p:nvPr/>
        </p:nvPicPr>
        <p:blipFill rotWithShape="1">
          <a:blip r:embed="rId6"/>
          <a:srcRect l="8970" t="58660"/>
          <a:stretch/>
        </p:blipFill>
        <p:spPr>
          <a:xfrm>
            <a:off x="610362" y="3319272"/>
            <a:ext cx="7230766" cy="2249424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21792" y="5650992"/>
            <a:ext cx="7040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DM Sans"/>
              </a:rPr>
              <a:t>Figure: PLC I/O wiring and four cylinder circuits modelled in Automation Studio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097280"/>
            <a:ext cx="3721608" cy="4892040"/>
          </a:xfrm>
          <a:prstGeom prst="roundRect">
            <a:avLst>
              <a:gd name="adj" fmla="val 245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ircuit Notes header"/>
          <p:cNvSpPr txBox="1"/>
          <p:nvPr/>
        </p:nvSpPr>
        <p:spPr>
          <a:xfrm>
            <a:off x="8165592" y="1261872"/>
            <a:ext cx="3264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DM Sans"/>
              </a:rPr>
              <a:t>Circuit Notes</a:t>
            </a:r>
          </a:p>
        </p:txBody>
      </p:sp>
      <p:sp>
        <p:nvSpPr>
          <p:cNvPr id="13" name="Circuit Notes body"/>
          <p:cNvSpPr txBox="1"/>
          <p:nvPr/>
        </p:nvSpPr>
        <p:spPr>
          <a:xfrm>
            <a:off x="8165592" y="1664207"/>
            <a:ext cx="3264408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>
                <a:solidFill>
                  <a:srgbClr val="0F172A"/>
                </a:solidFill>
                <a:latin typeface="DM Sans"/>
              </a:rPr>
              <a:t>Inputs (24 V): </a:t>
            </a:r>
            <a:r>
              <a:rPr sz="1350" b="0" i="0">
                <a:solidFill>
                  <a:srgbClr val="334155"/>
                </a:solidFill>
                <a:latin typeface="DM Sans"/>
              </a:rPr>
              <a:t>start trigger, four cylinder-extended sensors, Vision_Pass and conveyor transfer sensor.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>
                <a:solidFill>
                  <a:srgbClr val="0F172A"/>
                </a:solidFill>
                <a:latin typeface="DM Sans"/>
              </a:rPr>
              <a:t>Outputs: </a:t>
            </a:r>
            <a:r>
              <a:rPr sz="1350" b="0" i="0">
                <a:solidFill>
                  <a:srgbClr val="334155"/>
                </a:solidFill>
                <a:latin typeface="DM Sans"/>
              </a:rPr>
              <a:t>four solenoid coils (Sol 1–4) and the conveyor drives.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>
                <a:solidFill>
                  <a:srgbClr val="0F172A"/>
                </a:solidFill>
                <a:latin typeface="DM Sans"/>
              </a:rPr>
              <a:t>Pneumatics: </a:t>
            </a:r>
            <a:r>
              <a:rPr sz="1350" b="0" i="0">
                <a:solidFill>
                  <a:srgbClr val="334155"/>
                </a:solidFill>
                <a:latin typeface="DM Sans"/>
              </a:rPr>
              <a:t>4 double-acting cylinders on 5/2 valves, 10 bar supply.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>
                <a:solidFill>
                  <a:srgbClr val="0F172A"/>
                </a:solidFill>
                <a:latin typeface="DM Sans"/>
              </a:rPr>
              <a:t>Digital twin: </a:t>
            </a:r>
            <a:r>
              <a:rPr sz="1350" b="0" i="0">
                <a:solidFill>
                  <a:srgbClr val="334155"/>
                </a:solidFill>
                <a:latin typeface="DM Sans"/>
              </a:rPr>
              <a:t>logic validated virtually before the hardware build.</a:t>
            </a:r>
          </a:p>
        </p:txBody>
      </p:sp>
      <p:pic>
        <p:nvPicPr>
          <p:cNvPr id="14" name="Automation Studio circuit" descr="circuit.png"/>
          <p:cNvPicPr>
            <a:picLocks noChangeAspect="1"/>
          </p:cNvPicPr>
          <p:nvPr/>
        </p:nvPicPr>
        <p:blipFill rotWithShape="1">
          <a:blip r:embed="rId6"/>
          <a:srcRect b="60155"/>
          <a:stretch/>
        </p:blipFill>
        <p:spPr>
          <a:xfrm>
            <a:off x="621792" y="1234440"/>
            <a:ext cx="6951464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Itemized Bill of Materials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12 / 18</a:t>
            </a:r>
          </a:p>
        </p:txBody>
      </p:sp>
      <p:graphicFrame>
        <p:nvGraphicFramePr>
          <p:cNvPr id="8" name="BO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419461"/>
              </p:ext>
            </p:extLst>
          </p:nvPr>
        </p:nvGraphicFramePr>
        <p:xfrm>
          <a:off x="530352" y="1097280"/>
          <a:ext cx="11128248" cy="421538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dirty="0">
                          <a:solidFill>
                            <a:srgbClr val="0F172A"/>
                          </a:solidFill>
                          <a:latin typeface="DM Sans"/>
                        </a:rPr>
                        <a:t>Component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Specification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Qty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Sourcing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dirty="0">
                          <a:solidFill>
                            <a:srgbClr val="0F172A"/>
                          </a:solidFill>
                          <a:latin typeface="DM Sans"/>
                        </a:rPr>
                        <a:t>PLC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Delta PLC, 24 V DC I/O, WPLSoft programmable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Local industrial supplier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dirty="0">
                          <a:solidFill>
                            <a:srgbClr val="0F172A"/>
                          </a:solidFill>
                          <a:latin typeface="DM Sans"/>
                        </a:rPr>
                        <a:t>Edge computer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Raspberry Pi 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Local / authorised reseller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Camera &amp; lighting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Pi Camera Module (CSI) + white LED module on articulating bracket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Local / electronics market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 dirty="0">
                          <a:solidFill>
                            <a:srgbClr val="0F172A"/>
                          </a:solidFill>
                          <a:latin typeface="DM Sans"/>
                        </a:rPr>
                        <a:t>Pneumatic cylinders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Double-acting, 25 mm × 50 mm (press, diverter, feeder gates)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Local pneumatics supplier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Valves &amp; manifold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5/2-way 24 V DC solenoid valves on a central manifold block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Local pneumatics supplier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Conveyor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Linear transport with two drive motors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1 set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Local fabrication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Sensors &amp; isolation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Optical sensors for feeders and trigger; optocoupler boards 3.3 V to 24 V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1 set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Local industrial / electronics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Frame &amp; cabinet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T-slot extrusion, T-nuts, DIN rails, relays, 24 V supply, PVC ducts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1 lot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Local suppliers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Procurement strip"/>
          <p:cNvSpPr/>
          <p:nvPr/>
        </p:nvSpPr>
        <p:spPr>
          <a:xfrm>
            <a:off x="530352" y="5440680"/>
            <a:ext cx="11128248" cy="54864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rocurement text"/>
          <p:cNvSpPr txBox="1"/>
          <p:nvPr/>
        </p:nvSpPr>
        <p:spPr>
          <a:xfrm>
            <a:off x="731520" y="54406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DM Sans"/>
              </a:rPr>
              <a:t>Procurement: </a:t>
            </a:r>
            <a:r>
              <a:rPr sz="1200" b="0" i="0">
                <a:solidFill>
                  <a:srgbClr val="334155"/>
                </a:solidFill>
                <a:latin typeface="DM Sans"/>
              </a:rPr>
              <a:t>all items are standard, off-the-shelf parts sourced locally – no imported specialty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3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Maker Journey: Stage 1 to Stage 2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13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097280"/>
            <a:ext cx="5897880" cy="4069080"/>
          </a:xfrm>
          <a:prstGeom prst="roundRect">
            <a:avLst>
              <a:gd name="adj" fmla="val 224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Engineering Progress header"/>
          <p:cNvSpPr txBox="1"/>
          <p:nvPr/>
        </p:nvSpPr>
        <p:spPr>
          <a:xfrm>
            <a:off x="758952" y="1261872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DM Sans"/>
              </a:rPr>
              <a:t>Engineering Progress</a:t>
            </a:r>
          </a:p>
        </p:txBody>
      </p:sp>
      <p:sp>
        <p:nvSpPr>
          <p:cNvPr id="10" name="Engineering Progress body"/>
          <p:cNvSpPr txBox="1"/>
          <p:nvPr/>
        </p:nvSpPr>
        <p:spPr>
          <a:xfrm>
            <a:off x="758952" y="1664207"/>
            <a:ext cx="54406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>
                <a:solidFill>
                  <a:srgbClr val="0F172A"/>
                </a:solidFill>
                <a:latin typeface="DM Sans"/>
              </a:rPr>
              <a:t>Stage 1: </a:t>
            </a:r>
            <a:r>
              <a:rPr sz="1350" b="0" i="0">
                <a:solidFill>
                  <a:srgbClr val="334155"/>
                </a:solidFill>
                <a:latin typeface="DM Sans"/>
              </a:rPr>
              <a:t>defined the 5-station cell, feeders, vision approach and segregation.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>
                <a:solidFill>
                  <a:srgbClr val="0F172A"/>
                </a:solidFill>
                <a:latin typeface="DM Sans"/>
              </a:rPr>
              <a:t>3D CAD: </a:t>
            </a:r>
            <a:r>
              <a:rPr sz="1350" b="0" i="0">
                <a:solidFill>
                  <a:srgbClr val="334155"/>
                </a:solidFill>
                <a:latin typeface="DM Sans"/>
              </a:rPr>
              <a:t>full assembly modelled – isometric, top, feeder and camera views.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>
                <a:solidFill>
                  <a:srgbClr val="0F172A"/>
                </a:solidFill>
                <a:latin typeface="DM Sans"/>
              </a:rPr>
              <a:t>2D drawing: </a:t>
            </a:r>
            <a:r>
              <a:rPr sz="1350" b="0" i="0">
                <a:solidFill>
                  <a:srgbClr val="334155"/>
                </a:solidFill>
                <a:latin typeface="DM Sans"/>
              </a:rPr>
              <a:t>A3 sheet issued 08-10-2026.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>
                <a:solidFill>
                  <a:srgbClr val="0F172A"/>
                </a:solidFill>
                <a:latin typeface="DM Sans"/>
              </a:rPr>
              <a:t>Digital twin: </a:t>
            </a:r>
            <a:r>
              <a:rPr sz="1350" b="0" i="0">
                <a:solidFill>
                  <a:srgbClr val="334155"/>
                </a:solidFill>
                <a:latin typeface="DM Sans"/>
              </a:rPr>
              <a:t>4-cylinder circuit built and simulated in Automation Studio.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>
                <a:solidFill>
                  <a:srgbClr val="0F172A"/>
                </a:solidFill>
                <a:latin typeface="DM Sans"/>
              </a:rPr>
              <a:t>PLC: </a:t>
            </a:r>
            <a:r>
              <a:rPr sz="1350" b="0" i="0">
                <a:solidFill>
                  <a:srgbClr val="334155"/>
                </a:solidFill>
                <a:latin typeface="DM Sans"/>
              </a:rPr>
              <a:t>ladder program written in Delta WPLSoft.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Clr>
                <a:srgbClr val="059669"/>
              </a:buClr>
              <a:buFont typeface="Arial"/>
              <a:buChar char="▪"/>
            </a:pPr>
            <a:r>
              <a:rPr sz="1350" b="1" i="0">
                <a:solidFill>
                  <a:srgbClr val="0F172A"/>
                </a:solidFill>
                <a:latin typeface="DM Sans"/>
              </a:rPr>
              <a:t>Vision: </a:t>
            </a:r>
            <a:r>
              <a:rPr sz="1350" b="0" i="0">
                <a:solidFill>
                  <a:srgbClr val="334155"/>
                </a:solidFill>
                <a:latin typeface="DM Sans"/>
              </a:rPr>
              <a:t>OpenCV approach set – image subtraction + edge detection on Pi 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3998" y="140817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0F172A"/>
                </a:solidFill>
                <a:latin typeface="DM Sans"/>
              </a:rPr>
              <a:t>Design evidence</a:t>
            </a:r>
          </a:p>
        </p:txBody>
      </p:sp>
      <p:sp>
        <p:nvSpPr>
          <p:cNvPr id="19" name="Evidence card 1"/>
          <p:cNvSpPr/>
          <p:nvPr/>
        </p:nvSpPr>
        <p:spPr>
          <a:xfrm>
            <a:off x="6656832" y="1866211"/>
            <a:ext cx="2498598" cy="1792875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Evidence Automation Studio" descr="circu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1927200"/>
            <a:ext cx="2346722" cy="160754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76931" y="3726867"/>
            <a:ext cx="1997964" cy="34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1050" dirty="0">
                <a:solidFill>
                  <a:srgbClr val="64748B"/>
                </a:solidFill>
                <a:latin typeface="DM Sans"/>
              </a:rPr>
              <a:t>Pneumatic and PLC Connection Circuits</a:t>
            </a:r>
            <a:endParaRPr sz="1050" b="0" i="0" dirty="0">
              <a:solidFill>
                <a:srgbClr val="64748B"/>
              </a:solidFill>
              <a:latin typeface="DM Sans"/>
            </a:endParaRPr>
          </a:p>
        </p:txBody>
      </p:sp>
      <p:sp>
        <p:nvSpPr>
          <p:cNvPr id="25" name="Evidence card 3"/>
          <p:cNvSpPr/>
          <p:nvPr/>
        </p:nvSpPr>
        <p:spPr>
          <a:xfrm>
            <a:off x="9582912" y="1851660"/>
            <a:ext cx="2407158" cy="1807426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Evidence 2D CAD drawing" descr="draw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3639" y="1970532"/>
            <a:ext cx="2265703" cy="16276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009250" y="378104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64748B"/>
                </a:solidFill>
                <a:latin typeface="DM Sans"/>
              </a:rPr>
              <a:t>2D CAD drawing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Safety &amp; Hazard Mitigation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14 / 18</a:t>
            </a:r>
          </a:p>
        </p:txBody>
      </p:sp>
      <p:graphicFrame>
        <p:nvGraphicFramePr>
          <p:cNvPr id="8" name="FMEA table"/>
          <p:cNvGraphicFramePr>
            <a:graphicFrameLocks noGrp="1"/>
          </p:cNvGraphicFramePr>
          <p:nvPr/>
        </p:nvGraphicFramePr>
        <p:xfrm>
          <a:off x="530352" y="1097280"/>
          <a:ext cx="11128248" cy="321868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0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Failure Mode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Potential Hazard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Embedded Fail-Safe / Mitigation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172A"/>
                          </a:solidFill>
                          <a:latin typeface="DM Sans"/>
                        </a:rPr>
                        <a:t>Fault while press is active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155"/>
                          </a:solidFill>
                          <a:latin typeface="DM Sans"/>
                        </a:rPr>
                        <a:t>Crush hazard at the pneumatic press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155"/>
                          </a:solidFill>
                          <a:latin typeface="DM Sans"/>
                        </a:rPr>
                        <a:t>Hardwired NC loops instantly drop the output coils, de-energising the press safely.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172A"/>
                          </a:solidFill>
                          <a:latin typeface="DM Sans"/>
                        </a:rPr>
                        <a:t>Vision false accept / reject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155"/>
                          </a:solidFill>
                          <a:latin typeface="DM Sans"/>
                        </a:rPr>
                        <a:t>Defective part passes or good part scrapped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155"/>
                          </a:solidFill>
                          <a:latin typeface="DM Sans"/>
                        </a:rPr>
                        <a:t>Adjustable LED lighting removes shadows; golden-reference subtraction; one OK / NOT OK result to the PLC.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172A"/>
                          </a:solidFill>
                          <a:latin typeface="DM Sans"/>
                        </a:rPr>
                        <a:t>3.3 V GPIO meets 24 V logic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155"/>
                          </a:solidFill>
                          <a:latin typeface="DM Sans"/>
                        </a:rPr>
                        <a:t>Damaged Pi, noisy or false signals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155"/>
                          </a:solidFill>
                          <a:latin typeface="DM Sans"/>
                        </a:rPr>
                        <a:t>Optocoupler isolation boards; 3.3 V data and 24 V power routed in separate ducts.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172A"/>
                          </a:solidFill>
                          <a:latin typeface="DM Sans"/>
                        </a:rPr>
                        <a:t>Cylinder jam or air loss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155"/>
                          </a:solidFill>
                          <a:latin typeface="DM Sans"/>
                        </a:rPr>
                        <a:t>Part mis-pressed or mis-sorted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155"/>
                          </a:solidFill>
                          <a:latin typeface="DM Sans"/>
                        </a:rPr>
                        <a:t>Cylinder-extended sensors (Cyl 1–4) confirm each stroke before the PLC advances.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F172A"/>
                          </a:solidFill>
                          <a:latin typeface="DM Sans"/>
                        </a:rPr>
                        <a:t>Feeder empty or jammed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155"/>
                          </a:solidFill>
                          <a:latin typeface="DM Sans"/>
                        </a:rPr>
                        <a:t>Starved line, empty press cycles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155"/>
                          </a:solidFill>
                          <a:latin typeface="DM Sans"/>
                        </a:rPr>
                        <a:t>Optical sensors confirm parts on each stack before release.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0352" y="45262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hysical Fail-Safes header"/>
          <p:cNvSpPr txBox="1"/>
          <p:nvPr/>
        </p:nvSpPr>
        <p:spPr>
          <a:xfrm>
            <a:off x="758952" y="4690872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DM Sans"/>
              </a:rPr>
              <a:t>Physical Fail-Safes</a:t>
            </a:r>
          </a:p>
        </p:txBody>
      </p:sp>
      <p:sp>
        <p:nvSpPr>
          <p:cNvPr id="11" name="Physical Fail-Safes body"/>
          <p:cNvSpPr txBox="1"/>
          <p:nvPr/>
        </p:nvSpPr>
        <p:spPr>
          <a:xfrm>
            <a:off x="758952" y="5093208"/>
            <a:ext cx="4983480" cy="72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059669"/>
              </a:buClr>
              <a:buFont typeface="Arial"/>
              <a:buChar char="▪"/>
            </a:pPr>
            <a:r>
              <a:rPr sz="1250" b="0" i="0" dirty="0">
                <a:solidFill>
                  <a:srgbClr val="334155"/>
                </a:solidFill>
                <a:latin typeface="DM Sans"/>
              </a:rPr>
              <a:t>Emergency-stop and machine guarding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059669"/>
              </a:buClr>
              <a:buFont typeface="Arial"/>
              <a:buChar char="▪"/>
            </a:pPr>
            <a:r>
              <a:rPr sz="1250" b="0" i="0" dirty="0">
                <a:solidFill>
                  <a:srgbClr val="334155"/>
                </a:solidFill>
                <a:latin typeface="DM Sans"/>
              </a:rPr>
              <a:t>Sensor interlocks on every actuator stroke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059669"/>
              </a:buClr>
              <a:buFont typeface="Arial"/>
              <a:buChar char="▪"/>
            </a:pPr>
            <a:r>
              <a:rPr sz="1250" b="0" i="0" dirty="0">
                <a:solidFill>
                  <a:srgbClr val="334155"/>
                </a:solidFill>
                <a:latin typeface="DM Sans"/>
              </a:rPr>
              <a:t>Hardwired NC fail</a:t>
            </a:r>
            <a:r>
              <a:rPr lang="en-IN" sz="1250" b="0" i="0" dirty="0">
                <a:solidFill>
                  <a:srgbClr val="334155"/>
                </a:solidFill>
                <a:latin typeface="DM Sans"/>
              </a:rPr>
              <a:t> </a:t>
            </a:r>
            <a:r>
              <a:rPr sz="1250" b="0" i="0" dirty="0">
                <a:solidFill>
                  <a:srgbClr val="334155"/>
                </a:solidFill>
                <a:latin typeface="DM Sans"/>
              </a:rPr>
              <a:t>safe loops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262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andards Considered header"/>
          <p:cNvSpPr txBox="1"/>
          <p:nvPr/>
        </p:nvSpPr>
        <p:spPr>
          <a:xfrm>
            <a:off x="6446520" y="4690872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DM Sans"/>
              </a:rPr>
              <a:t>Standards Considered</a:t>
            </a:r>
          </a:p>
        </p:txBody>
      </p:sp>
      <p:sp>
        <p:nvSpPr>
          <p:cNvPr id="14" name="Standards Considered body"/>
          <p:cNvSpPr txBox="1"/>
          <p:nvPr/>
        </p:nvSpPr>
        <p:spPr>
          <a:xfrm>
            <a:off x="6446520" y="5093208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059669"/>
              </a:buClr>
              <a:buFont typeface="Arial"/>
              <a:buChar char="▪"/>
            </a:pPr>
            <a:r>
              <a:rPr sz="1250" b="0" i="0">
                <a:solidFill>
                  <a:srgbClr val="334155"/>
                </a:solidFill>
                <a:latin typeface="DM Sans"/>
              </a:rPr>
              <a:t>ISO 4414 – pneumatic fluid power safety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059669"/>
              </a:buClr>
              <a:buFont typeface="Arial"/>
              <a:buChar char="▪"/>
            </a:pPr>
            <a:r>
              <a:rPr sz="1250" b="0" i="0">
                <a:solidFill>
                  <a:srgbClr val="334155"/>
                </a:solidFill>
                <a:latin typeface="DM Sans"/>
              </a:rPr>
              <a:t>IEC 60204-1 – electrical equipment of machines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059669"/>
              </a:buClr>
              <a:buFont typeface="Arial"/>
              <a:buChar char="▪"/>
            </a:pPr>
            <a:r>
              <a:rPr sz="1250" b="0" i="0">
                <a:solidFill>
                  <a:srgbClr val="334155"/>
                </a:solidFill>
                <a:latin typeface="DM Sans"/>
              </a:rPr>
              <a:t>ISO 12100 – machinery risk assessment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Roadmap: 4-Month Fabrication Plan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15 / 18</a:t>
            </a:r>
          </a:p>
        </p:txBody>
      </p:sp>
      <p:sp>
        <p:nvSpPr>
          <p:cNvPr id="8" name="Completed strip"/>
          <p:cNvSpPr/>
          <p:nvPr/>
        </p:nvSpPr>
        <p:spPr>
          <a:xfrm>
            <a:off x="530352" y="1097280"/>
            <a:ext cx="11128248" cy="658368"/>
          </a:xfrm>
          <a:prstGeom prst="roundRect">
            <a:avLst>
              <a:gd name="adj" fmla="val 1388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ompleted text"/>
          <p:cNvSpPr txBox="1"/>
          <p:nvPr/>
        </p:nvSpPr>
        <p:spPr>
          <a:xfrm>
            <a:off x="731520" y="1097280"/>
            <a:ext cx="107259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DM Sans"/>
              </a:rPr>
              <a:t>Completed in Stage 2: </a:t>
            </a:r>
            <a:r>
              <a:rPr sz="1300" b="0" i="0">
                <a:solidFill>
                  <a:srgbClr val="334155"/>
                </a:solidFill>
                <a:latin typeface="DM Sans"/>
              </a:rPr>
              <a:t>3D CAD and 2D drawing  ·  Automation Studio digital twin  ·  PLC ladder logic</a:t>
            </a:r>
          </a:p>
        </p:txBody>
      </p:sp>
      <p:sp>
        <p:nvSpPr>
          <p:cNvPr id="10" name="Timeline line"/>
          <p:cNvSpPr/>
          <p:nvPr/>
        </p:nvSpPr>
        <p:spPr>
          <a:xfrm>
            <a:off x="1097280" y="2286000"/>
            <a:ext cx="9966960" cy="36576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682495" y="2121408"/>
            <a:ext cx="365760" cy="36576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12" name="Month card 1"/>
          <p:cNvSpPr/>
          <p:nvPr/>
        </p:nvSpPr>
        <p:spPr>
          <a:xfrm>
            <a:off x="530352" y="2651760"/>
            <a:ext cx="2670048" cy="224028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74320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DM Sans"/>
              </a:rPr>
              <a:t>MONTH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9923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369A1"/>
                </a:solidFill>
                <a:latin typeface="DM Sans"/>
              </a:rPr>
              <a:t>Vision Pipeline</a:t>
            </a:r>
          </a:p>
        </p:txBody>
      </p:sp>
      <p:sp>
        <p:nvSpPr>
          <p:cNvPr id="15" name="Month list 1"/>
          <p:cNvSpPr txBox="1"/>
          <p:nvPr/>
        </p:nvSpPr>
        <p:spPr>
          <a:xfrm>
            <a:off x="713232" y="3401568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Set up Pi 4 and camera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OpenCV: LEO text, smudge, scratch, air-gap checks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Order frame, cylinders and valves</a:t>
            </a:r>
          </a:p>
        </p:txBody>
      </p:sp>
      <p:sp>
        <p:nvSpPr>
          <p:cNvPr id="16" name="Oval 15"/>
          <p:cNvSpPr/>
          <p:nvPr/>
        </p:nvSpPr>
        <p:spPr>
          <a:xfrm>
            <a:off x="4501591" y="2121408"/>
            <a:ext cx="365760" cy="36576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17" name="Month card 2"/>
          <p:cNvSpPr/>
          <p:nvPr/>
        </p:nvSpPr>
        <p:spPr>
          <a:xfrm>
            <a:off x="3349447" y="2651760"/>
            <a:ext cx="2670048" cy="224028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32327" y="274320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DM Sans"/>
              </a:rPr>
              <a:t>MONTH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2327" y="299923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369A1"/>
                </a:solidFill>
                <a:latin typeface="DM Sans"/>
              </a:rPr>
              <a:t>Mechanical Build</a:t>
            </a:r>
          </a:p>
        </p:txBody>
      </p:sp>
      <p:sp>
        <p:nvSpPr>
          <p:cNvPr id="20" name="Month list 2"/>
          <p:cNvSpPr txBox="1"/>
          <p:nvPr/>
        </p:nvSpPr>
        <p:spPr>
          <a:xfrm>
            <a:off x="3532327" y="3401568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Assemble T-slot frame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Install conveyor, feeders and C-bend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Mount adjustable camera arch</a:t>
            </a:r>
          </a:p>
        </p:txBody>
      </p:sp>
      <p:sp>
        <p:nvSpPr>
          <p:cNvPr id="21" name="Oval 20"/>
          <p:cNvSpPr/>
          <p:nvPr/>
        </p:nvSpPr>
        <p:spPr>
          <a:xfrm>
            <a:off x="7320686" y="2121408"/>
            <a:ext cx="365760" cy="36576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22" name="Month card 3"/>
          <p:cNvSpPr/>
          <p:nvPr/>
        </p:nvSpPr>
        <p:spPr>
          <a:xfrm>
            <a:off x="6168542" y="2651760"/>
            <a:ext cx="2670048" cy="224028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422" y="274320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DM Sans"/>
              </a:rPr>
              <a:t>MONTH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422" y="299923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369A1"/>
                </a:solidFill>
                <a:latin typeface="DM Sans"/>
              </a:rPr>
              <a:t>Pneumatics &amp; PLC</a:t>
            </a:r>
          </a:p>
        </p:txBody>
      </p:sp>
      <p:sp>
        <p:nvSpPr>
          <p:cNvPr id="25" name="Month list 3"/>
          <p:cNvSpPr txBox="1"/>
          <p:nvPr/>
        </p:nvSpPr>
        <p:spPr>
          <a:xfrm>
            <a:off x="6351422" y="3401568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Mount cylinders; pipe 5/2 valves to manifold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Wire optocouplers and ducts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Load ladder logic; integrate Pi</a:t>
            </a:r>
          </a:p>
        </p:txBody>
      </p:sp>
      <p:sp>
        <p:nvSpPr>
          <p:cNvPr id="26" name="Oval 25"/>
          <p:cNvSpPr/>
          <p:nvPr/>
        </p:nvSpPr>
        <p:spPr>
          <a:xfrm>
            <a:off x="10139781" y="2121408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27" name="Month card 4"/>
          <p:cNvSpPr/>
          <p:nvPr/>
        </p:nvSpPr>
        <p:spPr>
          <a:xfrm>
            <a:off x="8987637" y="2651760"/>
            <a:ext cx="2670048" cy="224028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70517" y="274320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DM Sans"/>
              </a:rPr>
              <a:t>MONTH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0517" y="299923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369A1"/>
                </a:solidFill>
                <a:latin typeface="DM Sans"/>
              </a:rPr>
              <a:t>Integration &amp; Test</a:t>
            </a:r>
          </a:p>
        </p:txBody>
      </p:sp>
      <p:sp>
        <p:nvSpPr>
          <p:cNvPr id="30" name="Month list 4"/>
          <p:cNvSpPr txBox="1"/>
          <p:nvPr/>
        </p:nvSpPr>
        <p:spPr>
          <a:xfrm>
            <a:off x="9170517" y="3401568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End-to-end cycle validation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Tune cycle time and diverter timing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59669"/>
              </a:buClr>
              <a:buFont typeface="Arial"/>
              <a:buChar char="▪"/>
            </a:pPr>
            <a:r>
              <a:rPr sz="1200" b="0" i="0">
                <a:solidFill>
                  <a:srgbClr val="334155"/>
                </a:solidFill>
                <a:latin typeface="DM Sans"/>
              </a:rPr>
              <a:t>Benchmark detection and rejection</a:t>
            </a:r>
          </a:p>
        </p:txBody>
      </p:sp>
      <p:sp>
        <p:nvSpPr>
          <p:cNvPr id="31" name="Stage 3 strip"/>
          <p:cNvSpPr/>
          <p:nvPr/>
        </p:nvSpPr>
        <p:spPr>
          <a:xfrm>
            <a:off x="455371" y="5221224"/>
            <a:ext cx="11128248" cy="650044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Stage 3 text"/>
          <p:cNvSpPr txBox="1"/>
          <p:nvPr/>
        </p:nvSpPr>
        <p:spPr>
          <a:xfrm>
            <a:off x="731520" y="5419941"/>
            <a:ext cx="10725912" cy="2243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0F172A"/>
                </a:solidFill>
                <a:latin typeface="DM Sans"/>
              </a:rPr>
              <a:t>Stage 3 target: </a:t>
            </a:r>
            <a:r>
              <a:rPr sz="1350" b="0" i="0" dirty="0">
                <a:solidFill>
                  <a:srgbClr val="334155"/>
                </a:solidFill>
                <a:latin typeface="DM Sans"/>
              </a:rPr>
              <a:t>a fully working prototype </a:t>
            </a:r>
            <a:r>
              <a:rPr lang="en-IN" sz="1350" b="0" i="0" dirty="0">
                <a:solidFill>
                  <a:srgbClr val="334155"/>
                </a:solidFill>
                <a:latin typeface="DM Sans"/>
              </a:rPr>
              <a:t>of </a:t>
            </a:r>
            <a:r>
              <a:rPr sz="1350" b="0" i="0" dirty="0">
                <a:solidFill>
                  <a:srgbClr val="334155"/>
                </a:solidFill>
                <a:latin typeface="DM Sans"/>
              </a:rPr>
              <a:t>feed, press, flip, inspect and sort ready for a live functional demonstration.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Technical Challenges &amp; Risks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16 / 18</a:t>
            </a:r>
          </a:p>
        </p:txBody>
      </p:sp>
      <p:sp>
        <p:nvSpPr>
          <p:cNvPr id="8" name="Challenge card 1"/>
          <p:cNvSpPr/>
          <p:nvPr/>
        </p:nvSpPr>
        <p:spPr>
          <a:xfrm>
            <a:off x="530352" y="1097280"/>
            <a:ext cx="5458968" cy="2331720"/>
          </a:xfrm>
          <a:prstGeom prst="roundRect">
            <a:avLst>
              <a:gd name="adj" fmla="val 39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1325880"/>
            <a:ext cx="457200" cy="45720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1" y="129844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DM Sans"/>
              </a:rPr>
              <a:t>Low-contrast defects on translucent parts</a:t>
            </a:r>
          </a:p>
        </p:txBody>
      </p:sp>
      <p:sp>
        <p:nvSpPr>
          <p:cNvPr id="11" name="Challenge text 1"/>
          <p:cNvSpPr txBox="1"/>
          <p:nvPr/>
        </p:nvSpPr>
        <p:spPr>
          <a:xfrm>
            <a:off x="804671" y="2011680"/>
            <a:ext cx="4937760" cy="715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334155"/>
                </a:solidFill>
                <a:latin typeface="DM Sans"/>
              </a:rPr>
              <a:t>A clear base cap and white label make smudges, hairline air gaps and scratches hard to see. Reflections and shadows can cause false results.</a:t>
            </a:r>
          </a:p>
        </p:txBody>
      </p:sp>
      <p:sp>
        <p:nvSpPr>
          <p:cNvPr id="12" name="Challenge card 2"/>
          <p:cNvSpPr/>
          <p:nvPr/>
        </p:nvSpPr>
        <p:spPr>
          <a:xfrm>
            <a:off x="6199632" y="1097280"/>
            <a:ext cx="5458968" cy="2331720"/>
          </a:xfrm>
          <a:prstGeom prst="roundRect">
            <a:avLst>
              <a:gd name="adj" fmla="val 39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28232" y="1325880"/>
            <a:ext cx="457200" cy="45720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29844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DM Sans"/>
              </a:rPr>
              <a:t>3.3 V vision vs 24 V industrial logic</a:t>
            </a:r>
          </a:p>
        </p:txBody>
      </p:sp>
      <p:sp>
        <p:nvSpPr>
          <p:cNvPr id="15" name="Challenge text 2"/>
          <p:cNvSpPr txBox="1"/>
          <p:nvPr/>
        </p:nvSpPr>
        <p:spPr>
          <a:xfrm>
            <a:off x="6473952" y="2011680"/>
            <a:ext cx="4937760" cy="715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334155"/>
                </a:solidFill>
                <a:latin typeface="DM Sans"/>
              </a:rPr>
              <a:t>Raspberry Pi GPIO cannot drive PLC inputs directly. A wrong interface risks damaging the Pi or creating noisy, false triggers.</a:t>
            </a:r>
          </a:p>
        </p:txBody>
      </p:sp>
      <p:sp>
        <p:nvSpPr>
          <p:cNvPr id="16" name="Challenge card 3"/>
          <p:cNvSpPr/>
          <p:nvPr/>
        </p:nvSpPr>
        <p:spPr>
          <a:xfrm>
            <a:off x="530352" y="3657600"/>
            <a:ext cx="5458968" cy="2331720"/>
          </a:xfrm>
          <a:prstGeom prst="roundRect">
            <a:avLst>
              <a:gd name="adj" fmla="val 39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8952" y="3886200"/>
            <a:ext cx="457200" cy="45720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1" y="385876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DM Sans"/>
              </a:rPr>
              <a:t>On-the-fly rejection timing</a:t>
            </a:r>
          </a:p>
        </p:txBody>
      </p:sp>
      <p:sp>
        <p:nvSpPr>
          <p:cNvPr id="19" name="Challenge text 3"/>
          <p:cNvSpPr txBox="1"/>
          <p:nvPr/>
        </p:nvSpPr>
        <p:spPr>
          <a:xfrm>
            <a:off x="804671" y="4572000"/>
            <a:ext cx="4937760" cy="715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334155"/>
                </a:solidFill>
                <a:latin typeface="DM Sans"/>
              </a:rPr>
              <a:t>The diverter must fire exactly as a flagged part passes, with the conveyor still running and no dwell time to correct a late decision.</a:t>
            </a:r>
          </a:p>
        </p:txBody>
      </p:sp>
      <p:sp>
        <p:nvSpPr>
          <p:cNvPr id="20" name="Challenge card 4"/>
          <p:cNvSpPr/>
          <p:nvPr/>
        </p:nvSpPr>
        <p:spPr>
          <a:xfrm>
            <a:off x="6199632" y="3657600"/>
            <a:ext cx="5458968" cy="2331720"/>
          </a:xfrm>
          <a:prstGeom prst="roundRect">
            <a:avLst>
              <a:gd name="adj" fmla="val 39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28232" y="3886200"/>
            <a:ext cx="457200" cy="457200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wrap="square" lIns="0" tIns="27432" rIns="0" bIns="27432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385876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DM Sans"/>
              </a:rPr>
              <a:t>Passive flip and feeding consistency</a:t>
            </a:r>
          </a:p>
        </p:txBody>
      </p:sp>
      <p:sp>
        <p:nvSpPr>
          <p:cNvPr id="23" name="Challenge text 4"/>
          <p:cNvSpPr txBox="1"/>
          <p:nvPr/>
        </p:nvSpPr>
        <p:spPr>
          <a:xfrm>
            <a:off x="6473952" y="4572000"/>
            <a:ext cx="4937760" cy="715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334155"/>
                </a:solidFill>
                <a:latin typeface="DM Sans"/>
              </a:rPr>
              <a:t>The gravity C-bend must flip every part exactly 180° and the feeders must release one part at a time without jams or double feeds.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Potential Solutions &amp; Risk Mitigation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17 / 18</a:t>
            </a:r>
          </a:p>
        </p:txBody>
      </p:sp>
      <p:graphicFrame>
        <p:nvGraphicFramePr>
          <p:cNvPr id="8" name="Mitig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130374"/>
              </p:ext>
            </p:extLst>
          </p:nvPr>
        </p:nvGraphicFramePr>
        <p:xfrm>
          <a:off x="530352" y="1097280"/>
          <a:ext cx="11128248" cy="3776472"/>
        </p:xfrm>
        <a:graphic>
          <a:graphicData uri="http://schemas.openxmlformats.org/drawingml/2006/table">
            <a:tbl>
              <a:tblPr/>
              <a:tblGrid>
                <a:gridCol w="2155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5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 dirty="0">
                          <a:solidFill>
                            <a:srgbClr val="0F172A"/>
                          </a:solidFill>
                          <a:latin typeface="DM Sans"/>
                        </a:rPr>
                        <a:t>Risk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Primary solution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Backup / fallback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Low-contrast defects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Adjustable white LED lighting and shadow control; golden</a:t>
                      </a:r>
                      <a:r>
                        <a:rPr lang="en-IN" sz="1200" b="0" i="0" baseline="0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reference image subtraction plus edge detection; thresholds tuned in Phase 1.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Switch to back-lighting or low-angle lighting; add a second inspection angle.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3.3 V / 24 V interface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 err="1">
                          <a:solidFill>
                            <a:srgbClr val="334155"/>
                          </a:solidFill>
                          <a:latin typeface="DM Sans"/>
                        </a:rPr>
                        <a:t>Optocoupler</a:t>
                      </a: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 isolation boards between Pi GPIO and PLC inputs; data and power in separate ducts.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Swap in a relay interface board.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Rejection timing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Sensor-triggered tracking with a PLC timer delay between inspection and diverter, tuned during cell testing.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Reduce conveyor speed or add a second trigger sensor.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Flip and feed consistency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Adjustable C-bend geometry and press fixtures; optical sensors confirm each stack before release.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334155"/>
                          </a:solidFill>
                          <a:latin typeface="DM Sans"/>
                        </a:rPr>
                        <a:t>Add guide rails or a small pneumatic assist at the bend.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Modularity strip"/>
          <p:cNvSpPr/>
          <p:nvPr/>
        </p:nvSpPr>
        <p:spPr>
          <a:xfrm>
            <a:off x="530352" y="5303520"/>
            <a:ext cx="11128248" cy="68580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odularity text"/>
          <p:cNvSpPr txBox="1"/>
          <p:nvPr/>
        </p:nvSpPr>
        <p:spPr>
          <a:xfrm>
            <a:off x="731520" y="530352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DM Sans"/>
              </a:rPr>
              <a:t>Design principle: </a:t>
            </a:r>
            <a:r>
              <a:rPr sz="1300" b="0" i="0">
                <a:solidFill>
                  <a:srgbClr val="334155"/>
                </a:solidFill>
                <a:latin typeface="DM Sans"/>
              </a:rPr>
              <a:t>modular subsystems – lighting, interface and bend can each be changed without redesigning the whole cell.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ishwakarma logo" descr="image.png"/>
          <p:cNvPicPr>
            <a:picLocks noChangeAspect="1"/>
          </p:cNvPicPr>
          <p:nvPr/>
        </p:nvPicPr>
        <p:blipFill>
          <a:blip r:embed="rId4"/>
          <a:srcRect l="14673" t="33074" r="15820" b="44466"/>
          <a:stretch>
            <a:fillRect/>
          </a:stretch>
        </p:blipFill>
        <p:spPr>
          <a:xfrm>
            <a:off x="0" y="6281928"/>
            <a:ext cx="1783080" cy="576072"/>
          </a:xfrm>
          <a:prstGeom prst="rect">
            <a:avLst/>
          </a:prstGeom>
        </p:spPr>
      </p:pic>
      <p:pic>
        <p:nvPicPr>
          <p:cNvPr id="4" name="Maker Bhavan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72" y="6281928"/>
            <a:ext cx="1097280" cy="576072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30352" y="365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Poppins SemiBold"/>
              </a:rPr>
              <a:t>References &amp; Sources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5486400" y="6473952"/>
            <a:ext cx="1216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DM Sans"/>
              </a:rPr>
              <a:t>18 / 18</a:t>
            </a:r>
          </a:p>
        </p:txBody>
      </p:sp>
      <p:graphicFrame>
        <p:nvGraphicFramePr>
          <p:cNvPr id="8" name="Reference table"/>
          <p:cNvGraphicFramePr>
            <a:graphicFrameLocks noGrp="1"/>
          </p:cNvGraphicFramePr>
          <p:nvPr/>
        </p:nvGraphicFramePr>
        <p:xfrm>
          <a:off x="530352" y="1097280"/>
          <a:ext cx="11128248" cy="3429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Reference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Used for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F172A"/>
                          </a:solidFill>
                          <a:latin typeface="DM Sans"/>
                        </a:rPr>
                        <a:t>Source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BAE6FD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OpenCV documentation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Image subtraction and edge-detection pipeline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docs.opencv.org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Raspberry Pi documentation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Raspberry Pi 4 and Camera Module (CSI) interfacing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raspberrypi.com/documentation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Delta PLC and WPLSoft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Ladder programming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deltaww.com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Automation Studio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Electro-pneumatic circuit simulation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Famic Technologies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ISO 4414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Pneumatic fluid power safety rules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iso.org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F172A"/>
                          </a:solidFill>
                          <a:latin typeface="DM Sans"/>
                        </a:rPr>
                        <a:t>IEC 60204-1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Electrical equipment of machines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4155"/>
                          </a:solidFill>
                          <a:latin typeface="DM Sans"/>
                        </a:rPr>
                        <a:t>iec.ch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Image credit card"/>
          <p:cNvSpPr/>
          <p:nvPr/>
        </p:nvSpPr>
        <p:spPr>
          <a:xfrm>
            <a:off x="530352" y="4892040"/>
            <a:ext cx="11128248" cy="1097280"/>
          </a:xfrm>
          <a:prstGeom prst="roundRect">
            <a:avLst>
              <a:gd name="adj" fmla="val 8333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mage credit text"/>
          <p:cNvSpPr txBox="1"/>
          <p:nvPr/>
        </p:nvSpPr>
        <p:spPr>
          <a:xfrm>
            <a:off x="731520" y="5224595"/>
            <a:ext cx="10725912" cy="4321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0F172A"/>
                </a:solidFill>
                <a:latin typeface="DM Sans"/>
              </a:rPr>
              <a:t>Image sources: </a:t>
            </a:r>
            <a:r>
              <a:rPr lang="en-IN" sz="1300" dirty="0">
                <a:solidFill>
                  <a:srgbClr val="334155"/>
                </a:solidFill>
                <a:latin typeface="DM Sans"/>
              </a:rPr>
              <a:t>Al</a:t>
            </a:r>
            <a:r>
              <a:rPr sz="1300" b="0" i="0" dirty="0">
                <a:solidFill>
                  <a:srgbClr val="334155"/>
                </a:solidFill>
                <a:latin typeface="DM Sans"/>
              </a:rPr>
              <a:t>l photographs, CAD renders, engineering drawings, circuit and ladder screenshots in this deck are original work of Team Cipher Core, Sri Ramakrishna Engineering College.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2635</Words>
  <Application>Microsoft Office PowerPoint</Application>
  <PresentationFormat>Widescreen</PresentationFormat>
  <Paragraphs>366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DM Sans</vt:lpstr>
      <vt:lpstr>Calibri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sridarshan</dc:creator>
  <cp:lastModifiedBy>Sridarshan A</cp:lastModifiedBy>
  <cp:revision>17</cp:revision>
  <dcterms:modified xsi:type="dcterms:W3CDTF">2026-10-24T12:21:24Z</dcterms:modified>
</cp:coreProperties>
</file>